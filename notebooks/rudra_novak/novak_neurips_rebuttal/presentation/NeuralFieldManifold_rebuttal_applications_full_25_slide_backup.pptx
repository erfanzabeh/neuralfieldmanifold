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From torus geometry to behavior</a:t>
            </a:r>
          </a:p>
          <a:p/>
          <a:p>
            <a:r>
              <a:t>SCRIPT</a:t>
            </a:r>
          </a:p>
          <a:p>
            <a:r>
              <a:t>Kasra has shown the theoretical connection between sustained oscillatory modes and toroidal lag geometry. My part asks the next empirical question: once we recover that geometry, does it carry information about what the brain and animal are doing? The rebuttal gave us two tests: sleep staging across a full day of mouse EEG and six-way reach-direction decoding from macaque motor-cortex LFP.</a:t>
            </a:r>
          </a:p>
          <a:p/>
          <a:p>
            <a:r>
              <a:t>TAKEAWAY</a:t>
            </a:r>
          </a:p>
          <a:p>
            <a:r>
              <a:t>The application section asks whether the recovered geometry carries behaviorally useful information.</a:t>
            </a:r>
          </a:p>
          <a:p/>
          <a:p>
            <a:r>
              <a:t>TRANSITION</a:t>
            </a:r>
          </a:p>
          <a:p>
            <a:r>
              <a:t>I will start with the concrete questions raised during review.</a:t>
            </a:r>
          </a:p>
          <a:p/>
          <a:p>
            <a:r>
              <a:t>IF CHALLENGED</a:t>
            </a:r>
          </a:p>
          <a:p>
            <a:r>
              <a:t>If asked why decoding matters: it is a proof-of-concept behavioral readout, not the primary claim of the paper.</a:t>
            </a:r>
          </a:p>
          <a:p/>
          <a:p>
            <a:r>
              <a:t>DELIVERY CUE</a:t>
            </a:r>
          </a:p>
          <a:p>
            <a:r>
              <a:t>Pause after the title, then explicitly connect to Kasra's theory section.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Reviewers asked for evidence beyond a single decoding panel</a:t>
            </a:r>
          </a:p>
          <a:p/>
          <a:p>
            <a:r>
              <a:t>SCRIPT</a:t>
            </a:r>
          </a:p>
          <a:p>
            <a:r>
              <a:t>The reviewers did not simply ask for a larger number. They asked whether the result survives a fully specified baseline, whether it is stable across independent recording units, and whether the same idea works in a repeated motor task. Those requests shaped every analysis I will show.</a:t>
            </a:r>
          </a:p>
          <a:p/>
          <a:p>
            <a:r>
              <a:t>TAKEAWAY</a:t>
            </a:r>
          </a:p>
          <a:p>
            <a:r>
              <a:t>The new experiments test rigor and scope, not just performance.</a:t>
            </a:r>
          </a:p>
          <a:p/>
          <a:p>
            <a:r>
              <a:t>TRANSITION</a:t>
            </a:r>
          </a:p>
          <a:p>
            <a:r>
              <a:t>First, here is the common evaluation framework used across both datasets.</a:t>
            </a:r>
          </a:p>
          <a:p/>
          <a:p>
            <a:r>
              <a:t>IF CHALLENGED</a:t>
            </a:r>
          </a:p>
          <a:p>
            <a:r>
              <a:t>If asked which reviewer prompted what, use the backup evidence matrix; the live story is organized by scientific question.</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Both datasets use the same conservative decoding logic</a:t>
            </a:r>
          </a:p>
          <a:p/>
          <a:p>
            <a:r>
              <a:t>SCRIPT</a:t>
            </a:r>
          </a:p>
          <a:p>
            <a:r>
              <a:t>For every comparison, we held the decoder fixed and only changed the representation. We balanced the labels, used stratified five-fold LDA, and report macro F1. Error bars are standard deviation across independent sessions for EEG or independent LFP traces for the macaque. Statistical comparisons are paired Wilcoxon tests with Holm correction.</a:t>
            </a:r>
          </a:p>
          <a:p/>
          <a:p>
            <a:r>
              <a:t>TAKEAWAY</a:t>
            </a:r>
          </a:p>
          <a:p>
            <a:r>
              <a:t>Differences in performance reflect representations, not different classifiers.</a:t>
            </a:r>
          </a:p>
          <a:p/>
          <a:p>
            <a:r>
              <a:t>TRANSITION</a:t>
            </a:r>
          </a:p>
          <a:p>
            <a:r>
              <a:t>With that framework fixed, the first test is the full-day mouse EEG recording.</a:t>
            </a:r>
          </a:p>
          <a:p/>
          <a:p>
            <a:r>
              <a:t>IF CHALLENGED</a:t>
            </a:r>
          </a:p>
          <a:p>
            <a:r>
              <a:t>Macro F1 is appropriate because it weights Wake, NREM, and REM equally after balancing and remains interpretable across six reach directions.</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Mouse EEG provides a 24-hour repeated-session test</a:t>
            </a:r>
          </a:p>
          <a:p/>
          <a:p>
            <a:r>
              <a:t>SCRIPT</a:t>
            </a:r>
          </a:p>
          <a:p>
            <a:r>
              <a:t>We converted the full 24-hour cortical EEG recording into 24 one-hour sessions. Twenty-one hours contained at least five windows from each sleep class and entered balanced decoding. This gives us repeated temporal replicates rather than one pooled result.</a:t>
            </a:r>
          </a:p>
          <a:p/>
          <a:p>
            <a:r>
              <a:t>TAKEAWAY</a:t>
            </a:r>
          </a:p>
          <a:p>
            <a:r>
              <a:t>The EEG analysis tests repeatability across hours, not just average performance.</a:t>
            </a:r>
          </a:p>
          <a:p/>
          <a:p>
            <a:r>
              <a:t>TRANSITION</a:t>
            </a:r>
          </a:p>
          <a:p>
            <a:r>
              <a:t>The hour-by-hour heatmap shows how stable the representations are.</a:t>
            </a:r>
          </a:p>
          <a:p/>
          <a:p>
            <a:r>
              <a:t>IF CHALLENGED</a:t>
            </a:r>
          </a:p>
          <a:p>
            <a:r>
              <a:t>The three excluded hours lacked sufficient representation of all three classes; they were marked insufficient rather than forced into cross-validation.</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Torus decoding remains stable across recording hours</a:t>
            </a:r>
          </a:p>
          <a:p/>
          <a:p>
            <a:r>
              <a:t>SCRIPT</a:t>
            </a:r>
          </a:p>
          <a:p>
            <a:r>
              <a:t>Each row is one valid recording hour, and each column is a feature set. The important pattern is not a perfectly flat torus column; it is that torus decoding remains high across hours and is usually stronger than any single frequency band.</a:t>
            </a:r>
          </a:p>
          <a:p/>
          <a:p>
            <a:r>
              <a:t>TAKEAWAY</a:t>
            </a:r>
          </a:p>
          <a:p>
            <a:r>
              <a:t>The EEG result is distributed across time rather than driven by one session.</a:t>
            </a:r>
          </a:p>
          <a:p/>
          <a:p>
            <a:r>
              <a:t>TRANSITION</a:t>
            </a:r>
          </a:p>
          <a:p>
            <a:r>
              <a:t>Collapsing across hours lets us compare the compact baselines directly.</a:t>
            </a:r>
          </a:p>
          <a:p/>
          <a:p>
            <a:r>
              <a:t>IF CHALLENGED</a:t>
            </a:r>
          </a:p>
          <a:p>
            <a:r>
              <a:t>These are within-hour cross-validated F1 values summarized across hours; they should not be described as a train-on-one-hour, test-on-another transfer experiment.</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EEG geometry outperforms compact spectral summaries</a:t>
            </a:r>
          </a:p>
          <a:p/>
          <a:p>
            <a:r>
              <a:t>SCRIPT</a:t>
            </a:r>
          </a:p>
          <a:p>
            <a:r>
              <a:t>Across 21 sessions, torus features reach 0.670 +/- 0.060 SD. Delta, our physiologically relevant sleep band, reaches 0.470 +/- 0.050 SD, and a single scalar Average PSD reaches 0.485 +/- 0.062 SD. Both paired differences survive Holm correction at p = 5.72 x 10^-6.</a:t>
            </a:r>
          </a:p>
          <a:p/>
          <a:p>
            <a:r>
              <a:t>TAKEAWAY</a:t>
            </a:r>
          </a:p>
          <a:p>
            <a:r>
              <a:t>Torus geometry is substantially more informative than delta power or mean broadband PSD alone.</a:t>
            </a:r>
          </a:p>
          <a:p/>
          <a:p>
            <a:r>
              <a:t>TRANSITION</a:t>
            </a:r>
          </a:p>
          <a:p>
            <a:r>
              <a:t>The next slide is the qualification that keeps this claim honest.</a:t>
            </a:r>
          </a:p>
          <a:p/>
          <a:p>
            <a:r>
              <a:t>IF CHALLENGED</a:t>
            </a:r>
          </a:p>
          <a:p>
            <a:r>
              <a:t>Relevant band is fixed a priori as delta for sleep; it is not selected after seeing decoder performance.</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The joint all-band vector is stronger than torus alone</a:t>
            </a:r>
          </a:p>
          <a:p/>
          <a:p>
            <a:r>
              <a:t>SCRIPT</a:t>
            </a:r>
          </a:p>
          <a:p>
            <a:r>
              <a:t>When we give the spectral decoder all six band-power values jointly, it reaches 0.696 +/- 0.051 SD, slightly above the torus result. That does not erase the geometry result; it sharpens it. The torus representation beats each single band and Average PSD, but a richer multiband spectral vector remains a strong baseline.</a:t>
            </a:r>
          </a:p>
          <a:p/>
          <a:p>
            <a:r>
              <a:t>TAKEAWAY</a:t>
            </a:r>
          </a:p>
          <a:p>
            <a:r>
              <a:t>The evidence supports complementary information, not universal spectral dominance.</a:t>
            </a:r>
          </a:p>
          <a:p/>
          <a:p>
            <a:r>
              <a:t>TRANSITION</a:t>
            </a:r>
          </a:p>
          <a:p>
            <a:r>
              <a:t>We also tested how much of the torus feature set is actually necessary.</a:t>
            </a:r>
          </a:p>
          <a:p/>
          <a:p>
            <a:r>
              <a:t>IF CHALLENGED</a:t>
            </a:r>
          </a:p>
          <a:p>
            <a:r>
              <a:t>All-band power is a multifeature vector, not the average of the band powers. Its dimensionality and information content are larger than the one-scalar baselines.</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Removing radius-related terms causes a modest, nonsignificant drop</a:t>
            </a:r>
          </a:p>
          <a:p/>
          <a:p>
            <a:r>
              <a:t>SCRIPT</a:t>
            </a:r>
          </a:p>
          <a:p>
            <a:r>
              <a:t>The complete 15-feature vector reaches 0.670 +/- 0.060 SD; removing radius and tube-quality terms gives 0.651 +/- 0.072 SD. The paired p-value is 0.0822, so the decrease is not statistically reliable. This experiment is deliberately modest: it is a feature ablation, not direct measurement of wrong AR-order recovery.</a:t>
            </a:r>
          </a:p>
          <a:p/>
          <a:p>
            <a:r>
              <a:t>TAKEAWAY</a:t>
            </a:r>
          </a:p>
          <a:p>
            <a:r>
              <a:t>Radius-related geometry helps numerically, but this shortcut does not establish a significant order effect.</a:t>
            </a:r>
          </a:p>
          <a:p/>
          <a:p>
            <a:r>
              <a:t>TRANSITION</a:t>
            </a:r>
          </a:p>
          <a:p>
            <a:r>
              <a:t>The second application asks whether the framework extends beyond sleep to repeated reaching.</a:t>
            </a:r>
          </a:p>
          <a:p/>
          <a:p>
            <a:r>
              <a:t>IF CHALLENGED</a:t>
            </a:r>
          </a:p>
          <a:p>
            <a:r>
              <a:t>Do not label these bars correct-order and incorrect-order model accuracy; both are decoders built from cached geometric features.</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 reviewer-requested motor task extends the test across species and behavior</a:t>
            </a:r>
          </a:p>
          <a:p/>
          <a:p>
            <a:r>
              <a:t>SCRIPT</a:t>
            </a:r>
          </a:p>
          <a:p>
            <a:r>
              <a:t>The reviewer specifically asked whether the approach could be applied to periodic trajectories associated with repeated reaching. We used a public motor-cortex LFP dataset from two macaques. The main analysis uses 237 LFP recordings containing all six reach directions and decodes direction from the movement-aligned epoch.</a:t>
            </a:r>
          </a:p>
          <a:p/>
          <a:p>
            <a:r>
              <a:t>TAKEAWAY</a:t>
            </a:r>
          </a:p>
          <a:p>
            <a:r>
              <a:t>The macaque analysis is a genuinely different task, species, and recording setting.</a:t>
            </a:r>
          </a:p>
          <a:p/>
          <a:p>
            <a:r>
              <a:t>TRANSITION</a:t>
            </a:r>
          </a:p>
          <a:p>
            <a:r>
              <a:t>Before fitting geometry, we made lag parameters trace-specific rather than imposing one global choice.</a:t>
            </a:r>
          </a:p>
          <a:p/>
          <a:p>
            <a:r>
              <a:t>IF CHALLENGED</a:t>
            </a:r>
          </a:p>
          <a:p>
            <a:r>
              <a:t>The documented task is six reach directions crossed with short and long delay; the primary decoder target here is six-way direction, not an invented eight-condition label.</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Lag parameters are estimated independently for each LFP trace</a:t>
            </a:r>
          </a:p>
          <a:p/>
          <a:p>
            <a:r>
              <a:t>SCRIPT</a:t>
            </a:r>
          </a:p>
          <a:p>
            <a:r>
              <a:t>For each unique LFP trace, tau comes from the first local minimum of average mutual information, with autocorrelation fallbacks when necessary. The embedding dimension is derived from robust PSD peaks using two coordinates per oscillatory mode plus one, capped at nine dimensions. The median tau is 17 milliseconds, and selected dimensions range from three to nine.</a:t>
            </a:r>
          </a:p>
          <a:p/>
          <a:p>
            <a:r>
              <a:t>TAKEAWAY</a:t>
            </a:r>
          </a:p>
          <a:p>
            <a:r>
              <a:t>The torus fit is not based on a single arbitrary lag or one global dimension.</a:t>
            </a:r>
          </a:p>
          <a:p/>
          <a:p>
            <a:r>
              <a:t>TRANSITION</a:t>
            </a:r>
          </a:p>
          <a:p>
            <a:r>
              <a:t>With those unsupervised parameters fixed, we decode the six reach directions.</a:t>
            </a:r>
          </a:p>
          <a:p/>
          <a:p>
            <a:r>
              <a:t>IF CHALLENGED</a:t>
            </a:r>
          </a:p>
          <a:p>
            <a:r>
              <a:t>The PSD is used to choose the number of embedding coordinates, not to choose the decoder label or optimize F1.</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Torus features decode six reach directions above compact baselines</a:t>
            </a:r>
          </a:p>
          <a:p/>
          <a:p>
            <a:r>
              <a:t>SCRIPT</a:t>
            </a:r>
          </a:p>
          <a:p>
            <a:r>
              <a:t>For the 237 full six-direction LFPs, torus features reach 0.181 +/- 0.032 SD. Beta power reaches 0.157 +/- 0.028 SD, and Average PSD reaches 0.159 +/- 0.030 SD. The effect size is modest in absolute terms, as expected for single-channel six-way decoding, but it is consistent across a large number of LFP recordings.</a:t>
            </a:r>
          </a:p>
          <a:p/>
          <a:p>
            <a:r>
              <a:t>TAKEAWAY</a:t>
            </a:r>
          </a:p>
          <a:p>
            <a:r>
              <a:t>Geometry carries reach-direction information beyond beta power and mean PSD.</a:t>
            </a:r>
          </a:p>
          <a:p/>
          <a:p>
            <a:r>
              <a:t>TRANSITION</a:t>
            </a:r>
          </a:p>
          <a:p>
            <a:r>
              <a:t>Matched tests quantify how consistently that advantage appears across LFPs.</a:t>
            </a:r>
          </a:p>
          <a:p/>
          <a:p>
            <a:r>
              <a:t>IF CHALLENGED</a:t>
            </a:r>
          </a:p>
          <a:p>
            <a:r>
              <a:t>Chance is approximately one-sixth, but macro F1 can sit slightly below nominal chance for noisy multiclass predictions; the paired comparisons are the more informative test.</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Small macaque geometry gains are highly consistent</a:t>
            </a:r>
          </a:p>
          <a:p/>
          <a:p>
            <a:r>
              <a:t>SCRIPT</a:t>
            </a:r>
          </a:p>
          <a:p>
            <a:r>
              <a:t>The average improvements are about 0.024 F1 over beta and 0.022 over Average PSD. Because these are paired within the same 237 LFPs, we can ask whether the sign and magnitude of the difference are consistent. Both survive Holm correction: p = 2.32 x 10^-15 against beta and p = 2.97 x 10^-13 against Average PSD.</a:t>
            </a:r>
          </a:p>
          <a:p/>
          <a:p>
            <a:r>
              <a:t>TAKEAWAY</a:t>
            </a:r>
          </a:p>
          <a:p>
            <a:r>
              <a:t>The effect is modest but highly repeatable across LFP traces.</a:t>
            </a:r>
          </a:p>
          <a:p/>
          <a:p>
            <a:r>
              <a:t>TRANSITION</a:t>
            </a:r>
          </a:p>
          <a:p>
            <a:r>
              <a:t>The same qualitative pattern also appears separately in each macaque.</a:t>
            </a:r>
          </a:p>
          <a:p/>
          <a:p>
            <a:r>
              <a:t>IF CHALLENGED</a:t>
            </a:r>
          </a:p>
          <a:p>
            <a:r>
              <a:t>Statistical significance here reflects a large matched sample; pair the p-values with the effect sizes and SDs rather than presenting p-values alone.</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The qualitative result replicates separately in both macaques</a:t>
            </a:r>
          </a:p>
          <a:p/>
          <a:p>
            <a:r>
              <a:t>SCRIPT</a:t>
            </a:r>
          </a:p>
          <a:p>
            <a:r>
              <a:t>When we summarize Monkey M and Monkey T separately, torus features exceed beta and Average PSD in both animals. Monkey T has higher overall decodability, especially for all-band power, but the compact-baseline geometry advantage is not restricted to one monkey.</a:t>
            </a:r>
          </a:p>
          <a:p/>
          <a:p>
            <a:r>
              <a:t>TAKEAWAY</a:t>
            </a:r>
          </a:p>
          <a:p>
            <a:r>
              <a:t>Both animals independently support the compact-baseline result.</a:t>
            </a:r>
          </a:p>
          <a:p/>
          <a:p>
            <a:r>
              <a:t>TRANSITION</a:t>
            </a:r>
          </a:p>
          <a:p>
            <a:r>
              <a:t>Finally, combining representations asks whether geometry and power are redundant or complementary.</a:t>
            </a:r>
          </a:p>
          <a:p/>
          <a:p>
            <a:r>
              <a:t>IF CHALLENGED</a:t>
            </a:r>
          </a:p>
          <a:p>
            <a:r>
              <a:t>Call this replication by animal. The decoder is fit and evaluated within each LFP; this is not a leave-one-animal-out transfer analysis.</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Geometry complements beta and Average PSD, not all-band power</a:t>
            </a:r>
          </a:p>
          <a:p/>
          <a:p>
            <a:r>
              <a:t>SCRIPT</a:t>
            </a:r>
          </a:p>
          <a:p>
            <a:r>
              <a:t>Concatenating torus features with beta increases F1 by about 0.029, and concatenating them with Average PSD increases F1 by about 0.030. Both effects are strongly significant. But adding torus features to the full five-band vector does not improve the pooled result. The all-band vector already captures much of the task information available to this simple linear decoder.</a:t>
            </a:r>
          </a:p>
          <a:p/>
          <a:p>
            <a:r>
              <a:t>TAKEAWAY</a:t>
            </a:r>
          </a:p>
          <a:p>
            <a:r>
              <a:t>Geometry contributes nonredundant information to compact spectral summaries, not an unlimited independent signal.</a:t>
            </a:r>
          </a:p>
          <a:p/>
          <a:p>
            <a:r>
              <a:t>TRANSITION</a:t>
            </a:r>
          </a:p>
          <a:p>
            <a:r>
              <a:t>That leads to the balanced conclusion of the rebuttal experiments.</a:t>
            </a:r>
          </a:p>
          <a:p/>
          <a:p>
            <a:r>
              <a:t>IF CHALLENGED</a:t>
            </a:r>
          </a:p>
          <a:p>
            <a:r>
              <a:t>Concatenation increases dimensionality. The fair evidence is the paired out-of-fold F1, not the training score; no improvement over all-band power argues against a generic dimension-only benefit.</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The rebuttal turns the geometry into a testable application story</a:t>
            </a:r>
          </a:p>
          <a:p/>
          <a:p>
            <a:r>
              <a:t>SCRIPT</a:t>
            </a:r>
          </a:p>
          <a:p>
            <a:r>
              <a:t>The application takeaway has three parts. First, the recovered geometry is behaviorally informative in both sleep and reaching. Second, it contributes information beyond compact spectral summaries. Third, the strongest multiband spectral vector remains competitive or stronger, so our claim is complementarity and interpretability rather than universal decoding superiority. The rebuttal made the paper more precise and more useful.</a:t>
            </a:r>
          </a:p>
          <a:p/>
          <a:p>
            <a:r>
              <a:t>TAKEAWAY</a:t>
            </a:r>
          </a:p>
          <a:p>
            <a:r>
              <a:t>The geometry is useful, reproducible, and scientifically interpretable - with clearly stated limits.</a:t>
            </a:r>
          </a:p>
          <a:p/>
          <a:p>
            <a:r>
              <a:t>TRANSITION</a:t>
            </a:r>
          </a:p>
          <a:p>
            <a:r>
              <a:t>Rudra will now show how the full workflow is packaged and how a new user can apply it.</a:t>
            </a:r>
          </a:p>
          <a:p/>
          <a:p>
            <a:r>
              <a:t>IF CHALLENGED</a:t>
            </a:r>
          </a:p>
          <a:p>
            <a:r>
              <a:t>If challenged on why publish a representation that does not always win decoding: prediction accuracy and geometric fidelity are distinct objectives; the geometry links oscillatory structure to an interpretable state-space object.</a:t>
            </a:r>
          </a:p>
          <a:p/>
          <a:p>
            <a:r>
              <a:t>DELIVERY CUE</a:t>
            </a:r>
          </a:p>
          <a:p>
            <a:r>
              <a:t>Slow down here. This is the slide the audience should remember.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The torus decoder uses 15 geometric features</a:t>
            </a:r>
          </a:p>
          <a:p/>
          <a:p>
            <a:r>
              <a:t>SCRIPT</a:t>
            </a:r>
          </a:p>
          <a:p>
            <a:r>
              <a:t>Use this slide when someone asks exactly what the 15 torus features are. The vector combines scale, fit quality, and pose. It is intentionally compact compared with feeding the entire delay cloud to a flexible model.</a:t>
            </a:r>
          </a:p>
          <a:p/>
          <a:p>
            <a:r>
              <a:t>TAKEAWAY</a:t>
            </a:r>
          </a:p>
          <a:p>
            <a:r>
              <a:t>The torus representation is a compact, interpretable parameter vector.</a:t>
            </a:r>
          </a:p>
          <a:p/>
          <a:p>
            <a:r>
              <a:t>TRANSITION</a:t>
            </a:r>
          </a:p>
          <a:p>
            <a:r>
              <a:t>Return to the relevant result slide.</a:t>
            </a:r>
          </a:p>
          <a:p/>
          <a:p>
            <a:r>
              <a:t>IF CHALLENGED</a:t>
            </a:r>
          </a:p>
          <a:p>
            <a:r>
              <a:t>Orientation terms are retained in the no-radius ablation because they describe the large fitted ellipse's pose, not local tube thickness.</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The reviewer-facing torus fit uses nonlinear surface optimization</a:t>
            </a:r>
          </a:p>
          <a:p/>
          <a:p>
            <a:r>
              <a:t>SCRIPT</a:t>
            </a:r>
          </a:p>
          <a:p>
            <a:r>
              <a:t>The final macaque pipeline initializes from PCA, then refines the full elliptical torus by nonlinear least squares. Max nfev equals 1200, meaning the optimizer can evaluate the residual objective up to 1200 times. The result is cached because this is the expensive stage.</a:t>
            </a:r>
          </a:p>
          <a:p/>
          <a:p>
            <a:r>
              <a:t>TAKEAWAY</a:t>
            </a:r>
          </a:p>
          <a:p>
            <a:r>
              <a:t>The reported macaque features come from nonlinear fitted geometry.</a:t>
            </a:r>
          </a:p>
          <a:p/>
          <a:p>
            <a:r>
              <a:t>TRANSITION</a:t>
            </a:r>
          </a:p>
          <a:p>
            <a:r>
              <a:t>Return to the feature comparison.</a:t>
            </a:r>
          </a:p>
          <a:p/>
          <a:p>
            <a:r>
              <a:t>IF CHALLENGED</a:t>
            </a:r>
          </a:p>
          <a:p>
            <a:r>
              <a:t>PCA is only an initialization and a projection for embeddings above three dimensions; it is not the final torus parameter estimate.</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Spectral baselines range from one scalar to a multiband vector</a:t>
            </a:r>
          </a:p>
          <a:p/>
          <a:p>
            <a:r>
              <a:t>SCRIPT</a:t>
            </a:r>
          </a:p>
          <a:p>
            <a:r>
              <a:t>This slide clarifies the baseline hierarchy. Average PSD is one scalar; a relevant band is one scalar; all-band power is a vector containing every band power jointly. The richer all-band representation is therefore a substantially stronger baseline.</a:t>
            </a:r>
          </a:p>
          <a:p/>
          <a:p>
            <a:r>
              <a:t>TAKEAWAY</a:t>
            </a:r>
          </a:p>
          <a:p>
            <a:r>
              <a:t>Baseline complexity increases from one scalar to a multiband vector.</a:t>
            </a:r>
          </a:p>
          <a:p/>
          <a:p>
            <a:r>
              <a:t>TRANSITION</a:t>
            </a:r>
          </a:p>
          <a:p>
            <a:r>
              <a:t>Return to the spectral nuance slide.</a:t>
            </a:r>
          </a:p>
          <a:p/>
          <a:p>
            <a:r>
              <a:t>IF CHALLENGED</a:t>
            </a:r>
          </a:p>
          <a:p>
            <a:r>
              <a:t>Average PSD is log10 of mean Welch PSD after detrending and z-scoring; it is not the average of the decoder scores across bands.</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Cross-validation uses matched labels and independent units</a:t>
            </a:r>
          </a:p>
          <a:p/>
          <a:p>
            <a:r>
              <a:t>SCRIPT</a:t>
            </a:r>
          </a:p>
          <a:p>
            <a:r>
              <a:t>Each decoding result is cross-validated within its independent reporting unit: hour for EEG and unique LFP for macaque. Features are compared on matched units, then paired statistics are run across those units.</a:t>
            </a:r>
          </a:p>
          <a:p/>
          <a:p>
            <a:r>
              <a:t>TAKEAWAY</a:t>
            </a:r>
          </a:p>
          <a:p>
            <a:r>
              <a:t>The statistics operate on independent session- or LFP-level F1 values.</a:t>
            </a:r>
          </a:p>
          <a:p/>
          <a:p>
            <a:r>
              <a:t>TRANSITION</a:t>
            </a:r>
          </a:p>
          <a:p>
            <a:r>
              <a:t>Return to the relevant p-value slide.</a:t>
            </a:r>
          </a:p>
          <a:p/>
          <a:p>
            <a:r>
              <a:t>IF CHALLENGED</a:t>
            </a:r>
          </a:p>
          <a:p>
            <a:r>
              <a:t>The existing analysis is not a session-disjoint train/test transfer decoder; describe it as repeated within-unit cross-validation summarized across independent units.</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Full EEG heatmap: 21 valid recording hours</a:t>
            </a:r>
          </a:p>
          <a:p/>
          <a:p>
            <a:r>
              <a:t>SCRIPT</a:t>
            </a:r>
          </a:p>
          <a:p>
            <a:r>
              <a:t>Use this full-size heatmap when the audience wants the individual hourly values. It exposes both the stability and the real session-to-session variability.</a:t>
            </a:r>
          </a:p>
          <a:p/>
          <a:p>
            <a:r>
              <a:t>TAKEAWAY</a:t>
            </a:r>
          </a:p>
          <a:p>
            <a:r>
              <a:t>The full session matrix is available rather than only a collapsed mean.</a:t>
            </a:r>
          </a:p>
          <a:p/>
          <a:p>
            <a:r>
              <a:t>TRANSITION</a:t>
            </a:r>
          </a:p>
          <a:p>
            <a:r>
              <a:t>Return to the EEG summary.</a:t>
            </a:r>
          </a:p>
          <a:p/>
          <a:p>
            <a:r>
              <a:t>IF CHALLENGED</a:t>
            </a:r>
          </a:p>
          <a:p>
            <a:r>
              <a:t>Hours 1, 2, and 14 are absent because they lacked enough examples from all three classes.</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Macaque confusion matrices show structured direction signals</a:t>
            </a:r>
          </a:p>
          <a:p/>
          <a:p>
            <a:r>
              <a:t>SCRIPT</a:t>
            </a:r>
          </a:p>
          <a:p>
            <a:r>
              <a:t>These averaged confusion matrices show that six-way decoding is challenging but not structureless. The torus decoder yields a slightly stronger diagonal than the beta-only decoder across the same LFPs.</a:t>
            </a:r>
          </a:p>
          <a:p/>
          <a:p>
            <a:r>
              <a:t>TAKEAWAY</a:t>
            </a:r>
          </a:p>
          <a:p>
            <a:r>
              <a:t>The macaque F1 difference corresponds to distributed direction information, not one isolated class.</a:t>
            </a:r>
          </a:p>
          <a:p/>
          <a:p>
            <a:r>
              <a:t>TRANSITION</a:t>
            </a:r>
          </a:p>
          <a:p>
            <a:r>
              <a:t>Return to the main macaque comparison.</a:t>
            </a:r>
          </a:p>
          <a:p/>
          <a:p>
            <a:r>
              <a:t>IF CHALLENGED</a:t>
            </a:r>
          </a:p>
          <a:p>
            <a:r>
              <a:t>A mean confusion matrix averages normalized out-of-fold confusion matrices across LFPs; it is not one pooled classifier.</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Additive tests isolate complementary geometric information</a:t>
            </a:r>
          </a:p>
          <a:p/>
          <a:p>
            <a:r>
              <a:t>SCRIPT</a:t>
            </a:r>
          </a:p>
          <a:p>
            <a:r>
              <a:t>This table gives the exact primary additive comparisons. Torus features significantly improve beta and Average PSD. They do not improve all-band power in the pooled analysis.</a:t>
            </a:r>
          </a:p>
          <a:p/>
          <a:p>
            <a:r>
              <a:t>TAKEAWAY</a:t>
            </a:r>
          </a:p>
          <a:p>
            <a:r>
              <a:t>Complementarity depends on what the spectral baseline already contains.</a:t>
            </a:r>
          </a:p>
          <a:p/>
          <a:p>
            <a:r>
              <a:t>TRANSITION</a:t>
            </a:r>
          </a:p>
          <a:p>
            <a:r>
              <a:t>Return to the additive bar plot.</a:t>
            </a:r>
          </a:p>
          <a:p/>
          <a:p>
            <a:r>
              <a:t>IF CHALLENGED</a:t>
            </a:r>
          </a:p>
          <a:p>
            <a:r>
              <a:t>Holm correction is applied within the pooled additive comparison family shown here.</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Per-trace lag selection yields heterogeneous dimensions</a:t>
            </a:r>
          </a:p>
          <a:p/>
          <a:p>
            <a:r>
              <a:t>SCRIPT</a:t>
            </a:r>
          </a:p>
          <a:p>
            <a:r>
              <a:t>This diagnostic shows why we abandoned a single dataset-wide tau and dimension. The signal structure varies across electrodes and sessions, so each trace receives unsupervised parameters before decoding.</a:t>
            </a:r>
          </a:p>
          <a:p/>
          <a:p>
            <a:r>
              <a:t>TAKEAWAY</a:t>
            </a:r>
          </a:p>
          <a:p>
            <a:r>
              <a:t>Heterogeneity in oscillatory content is modeled rather than averaged away.</a:t>
            </a:r>
          </a:p>
          <a:p/>
          <a:p>
            <a:r>
              <a:t>TRANSITION</a:t>
            </a:r>
          </a:p>
          <a:p>
            <a:r>
              <a:t>Return to the per-trace embedding slide.</a:t>
            </a:r>
          </a:p>
          <a:p/>
          <a:p>
            <a:r>
              <a:t>IF CHALLENGED</a:t>
            </a:r>
          </a:p>
          <a:p>
            <a:r>
              <a:t>Although embeddings may be higher than three dimensions, the current 15-feature torus fit projects each cloud to its leading three principal coordinates for a comparable elliptical-torus parameterization.</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Persistent homology tests the torus hypothesis rather than forcing it</a:t>
            </a:r>
          </a:p>
          <a:p/>
          <a:p>
            <a:r>
              <a:t>SCRIPT</a:t>
            </a:r>
          </a:p>
          <a:p>
            <a:r>
              <a:t>This exploratory EEG persistent-homology notebook swept delays, window lengths, and thresholds without hardcoding the answer. In the selected session, the expected two-torus signature was not dominant. That negative result is informative and should not be conflated with the separate fitted-feature decoding analysis.</a:t>
            </a:r>
          </a:p>
          <a:p/>
          <a:p>
            <a:r>
              <a:t>TAKEAWAY</a:t>
            </a:r>
          </a:p>
          <a:p>
            <a:r>
              <a:t>Topological validation and geometric-feature utility are related but distinct empirical questions.</a:t>
            </a:r>
          </a:p>
          <a:p/>
          <a:p>
            <a:r>
              <a:t>TRANSITION</a:t>
            </a:r>
          </a:p>
          <a:p>
            <a:r>
              <a:t>Return to the limitations or conclusions slide.</a:t>
            </a:r>
          </a:p>
          <a:p/>
          <a:p>
            <a:r>
              <a:t>IF CHALLENGED</a:t>
            </a:r>
          </a:p>
          <a:p>
            <a:r>
              <a:t>Do not use this slide as evidence that every EEG window is a clean topological torus; it demonstrates the diagnostic and its honesty.</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The rebuttal converts reviewer concerns into concrete evidence</a:t>
            </a:r>
          </a:p>
          <a:p/>
          <a:p>
            <a:r>
              <a:t>SCRIPT</a:t>
            </a:r>
          </a:p>
          <a:p>
            <a:r>
              <a:t>Use this as a navigation slide during questions. It maps each major concern to a result and marks the order-ablation response as partial rather than overselling it.</a:t>
            </a:r>
          </a:p>
          <a:p/>
          <a:p>
            <a:r>
              <a:t>TAKEAWAY</a:t>
            </a:r>
          </a:p>
          <a:p>
            <a:r>
              <a:t>Most application concerns now have a direct table, figure, or diagnostic.</a:t>
            </a:r>
          </a:p>
          <a:p/>
          <a:p>
            <a:r>
              <a:t>TRANSITION</a:t>
            </a:r>
          </a:p>
          <a:p>
            <a:r>
              <a:t>Close by returning to the calibrated conclusion.</a:t>
            </a:r>
          </a:p>
          <a:p/>
          <a:p>
            <a:r>
              <a:t>IF CHALLENGED</a:t>
            </a:r>
          </a:p>
          <a:p>
            <a:r>
              <a:t>The remaining theoretical noise/window-placement bounds belong in Kasra's theory discussion rather than this application section.</a:t>
            </a:r>
          </a:p>
          <a:p/>
          <a:p>
            <a:r>
              <a:t>DELIVERY CUE</a:t>
            </a:r>
          </a:p>
          <a:p>
            <a:r>
              <a:t>Keep the slide conversational and do not read every label.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40080"/>
            <a:ext cx="2743200" cy="256032"/>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NEURALFIELDMANIFOLD</a:t>
            </a:r>
          </a:p>
        </p:txBody>
      </p:sp>
      <p:sp>
        <p:nvSpPr>
          <p:cNvPr id="5" name="TextBox 4"/>
          <p:cNvSpPr txBox="1"/>
          <p:nvPr/>
        </p:nvSpPr>
        <p:spPr>
          <a:xfrm>
            <a:off x="777240" y="1417320"/>
            <a:ext cx="10424160" cy="1234440"/>
          </a:xfrm>
          <a:prstGeom prst="rect">
            <a:avLst/>
          </a:prstGeom>
          <a:noFill/>
          <a:ln>
            <a:noFill/>
          </a:ln>
        </p:spPr>
        <p:txBody>
          <a:bodyPr wrap="square" lIns="73152" rIns="73152" tIns="54864" bIns="54864" anchor="t">
            <a:spAutoFit/>
          </a:bodyPr>
          <a:lstStyle/>
          <a:p>
            <a:pPr algn="l">
              <a:spcBef>
                <a:spcPts val="0"/>
              </a:spcBef>
              <a:spcAft>
                <a:spcPts val="0"/>
              </a:spcAft>
              <a:defRPr sz="3800" b="1">
                <a:solidFill>
                  <a:srgbClr val="191919"/>
                </a:solidFill>
                <a:latin typeface="Aptos"/>
              </a:defRPr>
            </a:pPr>
            <a:r>
              <a:t>From torus geometry to behavior</a:t>
            </a:r>
          </a:p>
        </p:txBody>
      </p:sp>
      <p:sp>
        <p:nvSpPr>
          <p:cNvPr id="6" name="TextBox 5"/>
          <p:cNvSpPr txBox="1"/>
          <p:nvPr/>
        </p:nvSpPr>
        <p:spPr>
          <a:xfrm>
            <a:off x="795528" y="2788920"/>
            <a:ext cx="9784080" cy="777240"/>
          </a:xfrm>
          <a:prstGeom prst="rect">
            <a:avLst/>
          </a:prstGeom>
          <a:noFill/>
          <a:ln>
            <a:noFill/>
          </a:ln>
        </p:spPr>
        <p:txBody>
          <a:bodyPr wrap="square" lIns="73152" rIns="73152" tIns="54864" bIns="54864" anchor="t">
            <a:spAutoFit/>
          </a:bodyPr>
          <a:lstStyle/>
          <a:p>
            <a:pPr algn="l">
              <a:spcBef>
                <a:spcPts val="0"/>
              </a:spcBef>
              <a:spcAft>
                <a:spcPts val="0"/>
              </a:spcAft>
              <a:defRPr sz="2200" b="0">
                <a:solidFill>
                  <a:srgbClr val="4B4B4B"/>
                </a:solidFill>
                <a:latin typeface="Aptos"/>
              </a:defRPr>
            </a:pPr>
            <a:r>
              <a:t>What the rebuttal experiments tell us - and what they do not</a:t>
            </a:r>
          </a:p>
        </p:txBody>
      </p:sp>
      <p:sp>
        <p:nvSpPr>
          <p:cNvPr id="7" name="Rectangle 6"/>
          <p:cNvSpPr/>
          <p:nvPr/>
        </p:nvSpPr>
        <p:spPr>
          <a:xfrm>
            <a:off x="795528" y="3913632"/>
            <a:ext cx="210312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4206240"/>
            <a:ext cx="9875520" cy="640080"/>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777777"/>
                </a:solidFill>
                <a:latin typeface="Aptos"/>
              </a:defRPr>
            </a:pPr>
            <a:r>
              <a:t>Mouse EEG sleep staging  |  Macaque reach-direction decoding</a:t>
            </a:r>
          </a:p>
        </p:txBody>
      </p:sp>
      <p:sp>
        <p:nvSpPr>
          <p:cNvPr id="9" name="TextBox 8"/>
          <p:cNvSpPr txBox="1"/>
          <p:nvPr/>
        </p:nvSpPr>
        <p:spPr>
          <a:xfrm>
            <a:off x="795528" y="6108192"/>
            <a:ext cx="8961120" cy="320040"/>
          </a:xfrm>
          <a:prstGeom prst="rect">
            <a:avLst/>
          </a:prstGeom>
          <a:noFill/>
          <a:ln>
            <a:noFill/>
          </a:ln>
        </p:spPr>
        <p:txBody>
          <a:bodyPr wrap="square" lIns="73152" rIns="73152" tIns="54864" bIns="54864" anchor="t">
            <a:spAutoFit/>
          </a:bodyPr>
          <a:lstStyle/>
          <a:p>
            <a:pPr algn="l">
              <a:spcBef>
                <a:spcPts val="0"/>
              </a:spcBef>
              <a:spcAft>
                <a:spcPts val="0"/>
              </a:spcAft>
              <a:defRPr sz="1200" b="0">
                <a:solidFill>
                  <a:srgbClr val="777777"/>
                </a:solidFill>
                <a:latin typeface="Aptos"/>
              </a:defRPr>
            </a:pPr>
            <a:r>
              <a:t>NeurIPS rebuttal experiments - application section</a:t>
            </a:r>
          </a:p>
        </p:txBody>
      </p:sp>
      <p:sp>
        <p:nvSpPr>
          <p:cNvPr id="10" name="TextBox 9"/>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Applications</a:t>
            </a:r>
          </a:p>
        </p:txBody>
      </p:sp>
      <p:sp>
        <p:nvSpPr>
          <p:cNvPr id="11" name="TextBox 10"/>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MOTIVATION</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Reviewers asked for evidence beyond a single decoding panel</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417320"/>
            <a:ext cx="3401568" cy="3337560"/>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00784"/>
            <a:ext cx="2880360" cy="29260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8F160D"/>
                </a:solidFill>
                <a:latin typeface="Aptos"/>
              </a:defRPr>
            </a:pPr>
            <a:r>
              <a:t>01</a:t>
            </a:r>
          </a:p>
        </p:txBody>
      </p:sp>
      <p:sp>
        <p:nvSpPr>
          <p:cNvPr id="7" name="TextBox 6"/>
          <p:cNvSpPr txBox="1"/>
          <p:nvPr/>
        </p:nvSpPr>
        <p:spPr>
          <a:xfrm>
            <a:off x="914400" y="2176272"/>
            <a:ext cx="2834640" cy="27432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777777"/>
                </a:solidFill>
                <a:latin typeface="Aptos"/>
              </a:defRPr>
            </a:pPr>
            <a:r>
              <a:t>BASELINES</a:t>
            </a:r>
          </a:p>
        </p:txBody>
      </p:sp>
      <p:sp>
        <p:nvSpPr>
          <p:cNvPr id="8" name="TextBox 7"/>
          <p:cNvSpPr txBox="1"/>
          <p:nvPr/>
        </p:nvSpPr>
        <p:spPr>
          <a:xfrm>
            <a:off x="914400" y="2615184"/>
            <a:ext cx="2816352" cy="1572768"/>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Does the decoding gap survive explicit spectral baselines, cross-validation, and error bars?</a:t>
            </a:r>
          </a:p>
        </p:txBody>
      </p:sp>
      <p:sp>
        <p:nvSpPr>
          <p:cNvPr id="9" name="Rectangle 8"/>
          <p:cNvSpPr/>
          <p:nvPr/>
        </p:nvSpPr>
        <p:spPr>
          <a:xfrm>
            <a:off x="4453128" y="1417320"/>
            <a:ext cx="3401568" cy="3337560"/>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1700784"/>
            <a:ext cx="2880360" cy="29260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8F160D"/>
                </a:solidFill>
                <a:latin typeface="Aptos"/>
              </a:defRPr>
            </a:pPr>
            <a:r>
              <a:t>02</a:t>
            </a:r>
          </a:p>
        </p:txBody>
      </p:sp>
      <p:sp>
        <p:nvSpPr>
          <p:cNvPr id="11" name="TextBox 10"/>
          <p:cNvSpPr txBox="1"/>
          <p:nvPr/>
        </p:nvSpPr>
        <p:spPr>
          <a:xfrm>
            <a:off x="4709160" y="2176272"/>
            <a:ext cx="2834640" cy="27432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777777"/>
                </a:solidFill>
                <a:latin typeface="Aptos"/>
              </a:defRPr>
            </a:pPr>
            <a:r>
              <a:t>GENERALIZATION</a:t>
            </a:r>
          </a:p>
        </p:txBody>
      </p:sp>
      <p:sp>
        <p:nvSpPr>
          <p:cNvPr id="12" name="TextBox 11"/>
          <p:cNvSpPr txBox="1"/>
          <p:nvPr/>
        </p:nvSpPr>
        <p:spPr>
          <a:xfrm>
            <a:off x="4709160" y="2615184"/>
            <a:ext cx="2816352" cy="1572768"/>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Is the result stable across recording hours and separately in each animal?</a:t>
            </a:r>
          </a:p>
        </p:txBody>
      </p:sp>
      <p:sp>
        <p:nvSpPr>
          <p:cNvPr id="13" name="Rectangle 12"/>
          <p:cNvSpPr/>
          <p:nvPr/>
        </p:nvSpPr>
        <p:spPr>
          <a:xfrm>
            <a:off x="8247888" y="1417320"/>
            <a:ext cx="3401568" cy="3337560"/>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700784"/>
            <a:ext cx="2880360" cy="29260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8F160D"/>
                </a:solidFill>
                <a:latin typeface="Aptos"/>
              </a:defRPr>
            </a:pPr>
            <a:r>
              <a:t>03</a:t>
            </a:r>
          </a:p>
        </p:txBody>
      </p:sp>
      <p:sp>
        <p:nvSpPr>
          <p:cNvPr id="15" name="TextBox 14"/>
          <p:cNvSpPr txBox="1"/>
          <p:nvPr/>
        </p:nvSpPr>
        <p:spPr>
          <a:xfrm>
            <a:off x="8503920" y="2176272"/>
            <a:ext cx="2834640" cy="27432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777777"/>
                </a:solidFill>
                <a:latin typeface="Aptos"/>
              </a:defRPr>
            </a:pPr>
            <a:r>
              <a:t>NEW TASK</a:t>
            </a:r>
          </a:p>
        </p:txBody>
      </p:sp>
      <p:sp>
        <p:nvSpPr>
          <p:cNvPr id="16" name="TextBox 15"/>
          <p:cNvSpPr txBox="1"/>
          <p:nvPr/>
        </p:nvSpPr>
        <p:spPr>
          <a:xfrm>
            <a:off x="8503920" y="2615184"/>
            <a:ext cx="2816352" cy="1572768"/>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Can the method decode repeated reaching movements from motor-cortex LFP?</a:t>
            </a:r>
          </a:p>
        </p:txBody>
      </p:sp>
      <p:sp>
        <p:nvSpPr>
          <p:cNvPr id="17" name="TextBox 16"/>
          <p:cNvSpPr txBox="1"/>
          <p:nvPr/>
        </p:nvSpPr>
        <p:spPr>
          <a:xfrm>
            <a:off x="713232" y="5138928"/>
            <a:ext cx="10881360" cy="658368"/>
          </a:xfrm>
          <a:prstGeom prst="rect">
            <a:avLst/>
          </a:prstGeom>
          <a:noFill/>
          <a:ln>
            <a:noFill/>
          </a:ln>
        </p:spPr>
        <p:txBody>
          <a:bodyPr wrap="square" lIns="73152" rIns="73152" tIns="54864" bIns="54864" anchor="t">
            <a:spAutoFit/>
          </a:bodyPr>
          <a:lstStyle/>
          <a:p>
            <a:pPr algn="ctr">
              <a:spcBef>
                <a:spcPts val="0"/>
              </a:spcBef>
              <a:spcAft>
                <a:spcPts val="0"/>
              </a:spcAft>
              <a:defRPr sz="2100" b="1">
                <a:solidFill>
                  <a:srgbClr val="8F160D"/>
                </a:solidFill>
                <a:latin typeface="Aptos"/>
              </a:defRPr>
            </a:pPr>
            <a:r>
              <a:t>The rebuttal became a stress test of behavioral utility, reproducibility, and claim precision.</a:t>
            </a:r>
          </a:p>
        </p:txBody>
      </p:sp>
      <p:sp>
        <p:nvSpPr>
          <p:cNvPr id="18" name="TextBox 17"/>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Motivation</a:t>
            </a:r>
          </a:p>
        </p:txBody>
      </p:sp>
      <p:sp>
        <p:nvSpPr>
          <p:cNvPr id="19" name="TextBox 18"/>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METHODS</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Both datasets use the same conservative decoding logic</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508760"/>
            <a:ext cx="2441448" cy="1298448"/>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719072"/>
            <a:ext cx="2103120" cy="228600"/>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8F160D"/>
                </a:solidFill>
                <a:latin typeface="Aptos"/>
              </a:defRPr>
            </a:pPr>
            <a:r>
              <a:t>WINDOW</a:t>
            </a:r>
          </a:p>
        </p:txBody>
      </p:sp>
      <p:sp>
        <p:nvSpPr>
          <p:cNvPr id="7" name="TextBox 6"/>
          <p:cNvSpPr txBox="1"/>
          <p:nvPr/>
        </p:nvSpPr>
        <p:spPr>
          <a:xfrm>
            <a:off x="667512" y="2057400"/>
            <a:ext cx="2084831" cy="530352"/>
          </a:xfrm>
          <a:prstGeom prst="rect">
            <a:avLst/>
          </a:prstGeom>
          <a:noFill/>
          <a:ln>
            <a:noFill/>
          </a:ln>
        </p:spPr>
        <p:txBody>
          <a:bodyPr wrap="square" lIns="73152" rIns="73152" tIns="54864" bIns="54864" anchor="t">
            <a:spAutoFit/>
          </a:bodyPr>
          <a:lstStyle/>
          <a:p>
            <a:pPr algn="l">
              <a:spcBef>
                <a:spcPts val="0"/>
              </a:spcBef>
              <a:spcAft>
                <a:spcPts val="0"/>
              </a:spcAft>
              <a:defRPr sz="1600" b="1">
                <a:solidFill>
                  <a:srgbClr val="191919"/>
                </a:solidFill>
                <a:latin typeface="Aptos"/>
              </a:defRPr>
            </a:pPr>
            <a:r>
              <a:t>Task-aligned or 2 s signal segment</a:t>
            </a:r>
          </a:p>
        </p:txBody>
      </p:sp>
      <p:sp>
        <p:nvSpPr>
          <p:cNvPr id="8" name="Rectangle 7"/>
          <p:cNvSpPr/>
          <p:nvPr/>
        </p:nvSpPr>
        <p:spPr>
          <a:xfrm>
            <a:off x="2953512" y="2148840"/>
            <a:ext cx="41148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18104" y="1965960"/>
            <a:ext cx="228600" cy="256032"/>
          </a:xfrm>
          <a:prstGeom prst="rect">
            <a:avLst/>
          </a:prstGeom>
          <a:noFill/>
          <a:ln>
            <a:noFill/>
          </a:ln>
        </p:spPr>
        <p:txBody>
          <a:bodyPr wrap="square" lIns="73152" rIns="73152" tIns="54864" bIns="54864" anchor="t">
            <a:spAutoFit/>
          </a:bodyPr>
          <a:lstStyle/>
          <a:p>
            <a:pPr algn="l">
              <a:spcBef>
                <a:spcPts val="0"/>
              </a:spcBef>
              <a:spcAft>
                <a:spcPts val="0"/>
              </a:spcAft>
              <a:defRPr sz="1800" b="1">
                <a:solidFill>
                  <a:srgbClr val="8F160D"/>
                </a:solidFill>
                <a:latin typeface="Aptos"/>
              </a:defRPr>
            </a:pPr>
            <a:r>
              <a:t>&gt;</a:t>
            </a:r>
          </a:p>
        </p:txBody>
      </p:sp>
      <p:sp>
        <p:nvSpPr>
          <p:cNvPr id="10" name="Rectangle 9"/>
          <p:cNvSpPr/>
          <p:nvPr/>
        </p:nvSpPr>
        <p:spPr>
          <a:xfrm>
            <a:off x="3392424" y="1508760"/>
            <a:ext cx="2441448" cy="1298448"/>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7016" y="1719072"/>
            <a:ext cx="2103120" cy="228600"/>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8F160D"/>
                </a:solidFill>
                <a:latin typeface="Aptos"/>
              </a:defRPr>
            </a:pPr>
            <a:r>
              <a:t>FEATURES</a:t>
            </a:r>
          </a:p>
        </p:txBody>
      </p:sp>
      <p:sp>
        <p:nvSpPr>
          <p:cNvPr id="12" name="TextBox 11"/>
          <p:cNvSpPr txBox="1"/>
          <p:nvPr/>
        </p:nvSpPr>
        <p:spPr>
          <a:xfrm>
            <a:off x="3557016" y="2057400"/>
            <a:ext cx="2084831" cy="530352"/>
          </a:xfrm>
          <a:prstGeom prst="rect">
            <a:avLst/>
          </a:prstGeom>
          <a:noFill/>
          <a:ln>
            <a:noFill/>
          </a:ln>
        </p:spPr>
        <p:txBody>
          <a:bodyPr wrap="square" lIns="73152" rIns="73152" tIns="54864" bIns="54864" anchor="t">
            <a:spAutoFit/>
          </a:bodyPr>
          <a:lstStyle/>
          <a:p>
            <a:pPr algn="l">
              <a:spcBef>
                <a:spcPts val="0"/>
              </a:spcBef>
              <a:spcAft>
                <a:spcPts val="0"/>
              </a:spcAft>
              <a:defRPr sz="1600" b="1">
                <a:solidFill>
                  <a:srgbClr val="191919"/>
                </a:solidFill>
                <a:latin typeface="Aptos"/>
              </a:defRPr>
            </a:pPr>
            <a:r>
              <a:t>Single band | Average PSD | All bands | Torus</a:t>
            </a:r>
          </a:p>
        </p:txBody>
      </p:sp>
      <p:sp>
        <p:nvSpPr>
          <p:cNvPr id="13" name="Rectangle 12"/>
          <p:cNvSpPr/>
          <p:nvPr/>
        </p:nvSpPr>
        <p:spPr>
          <a:xfrm>
            <a:off x="5843016" y="2148840"/>
            <a:ext cx="41148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07608" y="1965960"/>
            <a:ext cx="228600" cy="256032"/>
          </a:xfrm>
          <a:prstGeom prst="rect">
            <a:avLst/>
          </a:prstGeom>
          <a:noFill/>
          <a:ln>
            <a:noFill/>
          </a:ln>
        </p:spPr>
        <p:txBody>
          <a:bodyPr wrap="square" lIns="73152" rIns="73152" tIns="54864" bIns="54864" anchor="t">
            <a:spAutoFit/>
          </a:bodyPr>
          <a:lstStyle/>
          <a:p>
            <a:pPr algn="l">
              <a:spcBef>
                <a:spcPts val="0"/>
              </a:spcBef>
              <a:spcAft>
                <a:spcPts val="0"/>
              </a:spcAft>
              <a:defRPr sz="1800" b="1">
                <a:solidFill>
                  <a:srgbClr val="8F160D"/>
                </a:solidFill>
                <a:latin typeface="Aptos"/>
              </a:defRPr>
            </a:pPr>
            <a:r>
              <a:t>&gt;</a:t>
            </a:r>
          </a:p>
        </p:txBody>
      </p:sp>
      <p:sp>
        <p:nvSpPr>
          <p:cNvPr id="15" name="Rectangle 14"/>
          <p:cNvSpPr/>
          <p:nvPr/>
        </p:nvSpPr>
        <p:spPr>
          <a:xfrm>
            <a:off x="6281928" y="1508760"/>
            <a:ext cx="2441448" cy="1298448"/>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719072"/>
            <a:ext cx="2103120" cy="228600"/>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8F160D"/>
                </a:solidFill>
                <a:latin typeface="Aptos"/>
              </a:defRPr>
            </a:pPr>
            <a:r>
              <a:t>DECODER</a:t>
            </a:r>
          </a:p>
        </p:txBody>
      </p:sp>
      <p:sp>
        <p:nvSpPr>
          <p:cNvPr id="17" name="TextBox 16"/>
          <p:cNvSpPr txBox="1"/>
          <p:nvPr/>
        </p:nvSpPr>
        <p:spPr>
          <a:xfrm>
            <a:off x="6446520" y="2057400"/>
            <a:ext cx="2084831" cy="530352"/>
          </a:xfrm>
          <a:prstGeom prst="rect">
            <a:avLst/>
          </a:prstGeom>
          <a:noFill/>
          <a:ln>
            <a:noFill/>
          </a:ln>
        </p:spPr>
        <p:txBody>
          <a:bodyPr wrap="square" lIns="73152" rIns="73152" tIns="54864" bIns="54864" anchor="t">
            <a:spAutoFit/>
          </a:bodyPr>
          <a:lstStyle/>
          <a:p>
            <a:pPr algn="l">
              <a:spcBef>
                <a:spcPts val="0"/>
              </a:spcBef>
              <a:spcAft>
                <a:spcPts val="0"/>
              </a:spcAft>
              <a:defRPr sz="1600" b="1">
                <a:solidFill>
                  <a:srgbClr val="191919"/>
                </a:solidFill>
                <a:latin typeface="Aptos"/>
              </a:defRPr>
            </a:pPr>
            <a:r>
              <a:t>Balanced, stratified 5-fold LDA</a:t>
            </a:r>
          </a:p>
        </p:txBody>
      </p:sp>
      <p:sp>
        <p:nvSpPr>
          <p:cNvPr id="18" name="Rectangle 17"/>
          <p:cNvSpPr/>
          <p:nvPr/>
        </p:nvSpPr>
        <p:spPr>
          <a:xfrm>
            <a:off x="8732520" y="2148840"/>
            <a:ext cx="41148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97112" y="1965960"/>
            <a:ext cx="228600" cy="256032"/>
          </a:xfrm>
          <a:prstGeom prst="rect">
            <a:avLst/>
          </a:prstGeom>
          <a:noFill/>
          <a:ln>
            <a:noFill/>
          </a:ln>
        </p:spPr>
        <p:txBody>
          <a:bodyPr wrap="square" lIns="73152" rIns="73152" tIns="54864" bIns="54864" anchor="t">
            <a:spAutoFit/>
          </a:bodyPr>
          <a:lstStyle/>
          <a:p>
            <a:pPr algn="l">
              <a:spcBef>
                <a:spcPts val="0"/>
              </a:spcBef>
              <a:spcAft>
                <a:spcPts val="0"/>
              </a:spcAft>
              <a:defRPr sz="1800" b="1">
                <a:solidFill>
                  <a:srgbClr val="8F160D"/>
                </a:solidFill>
                <a:latin typeface="Aptos"/>
              </a:defRPr>
            </a:pPr>
            <a:r>
              <a:t>&gt;</a:t>
            </a:r>
          </a:p>
        </p:txBody>
      </p:sp>
      <p:sp>
        <p:nvSpPr>
          <p:cNvPr id="20" name="Rectangle 19"/>
          <p:cNvSpPr/>
          <p:nvPr/>
        </p:nvSpPr>
        <p:spPr>
          <a:xfrm>
            <a:off x="9171432" y="1508760"/>
            <a:ext cx="2441448" cy="1298448"/>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36024" y="1719072"/>
            <a:ext cx="2103120" cy="228600"/>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8F160D"/>
                </a:solidFill>
                <a:latin typeface="Aptos"/>
              </a:defRPr>
            </a:pPr>
            <a:r>
              <a:t>REPORT</a:t>
            </a:r>
          </a:p>
        </p:txBody>
      </p:sp>
      <p:sp>
        <p:nvSpPr>
          <p:cNvPr id="22" name="TextBox 21"/>
          <p:cNvSpPr txBox="1"/>
          <p:nvPr/>
        </p:nvSpPr>
        <p:spPr>
          <a:xfrm>
            <a:off x="9336024" y="2057400"/>
            <a:ext cx="2084831" cy="530352"/>
          </a:xfrm>
          <a:prstGeom prst="rect">
            <a:avLst/>
          </a:prstGeom>
          <a:noFill/>
          <a:ln>
            <a:noFill/>
          </a:ln>
        </p:spPr>
        <p:txBody>
          <a:bodyPr wrap="square" lIns="73152" rIns="73152" tIns="54864" bIns="54864" anchor="t">
            <a:spAutoFit/>
          </a:bodyPr>
          <a:lstStyle/>
          <a:p>
            <a:pPr algn="l">
              <a:spcBef>
                <a:spcPts val="0"/>
              </a:spcBef>
              <a:spcAft>
                <a:spcPts val="0"/>
              </a:spcAft>
              <a:defRPr sz="1600" b="1">
                <a:solidFill>
                  <a:srgbClr val="191919"/>
                </a:solidFill>
                <a:latin typeface="Aptos"/>
              </a:defRPr>
            </a:pPr>
            <a:r>
              <a:t>Macro F1; SD across sessions or LFPs</a:t>
            </a:r>
          </a:p>
        </p:txBody>
      </p:sp>
      <p:sp>
        <p:nvSpPr>
          <p:cNvPr id="23" name="Rectangle 22"/>
          <p:cNvSpPr/>
          <p:nvPr/>
        </p:nvSpPr>
        <p:spPr>
          <a:xfrm>
            <a:off x="685800" y="3822191"/>
            <a:ext cx="3401568"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3822191"/>
            <a:ext cx="82296" cy="1078992"/>
          </a:xfrm>
          <a:prstGeom prst="rect">
            <a:avLst/>
          </a:prstGeom>
          <a:solidFill>
            <a:srgbClr val="315C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959352"/>
            <a:ext cx="3081528"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STATISTICAL UNIT</a:t>
            </a:r>
          </a:p>
        </p:txBody>
      </p:sp>
      <p:sp>
        <p:nvSpPr>
          <p:cNvPr id="26" name="TextBox 25"/>
          <p:cNvSpPr txBox="1"/>
          <p:nvPr/>
        </p:nvSpPr>
        <p:spPr>
          <a:xfrm>
            <a:off x="896112" y="4251959"/>
            <a:ext cx="3081528"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Matched session or LFP</a:t>
            </a:r>
          </a:p>
        </p:txBody>
      </p:sp>
      <p:sp>
        <p:nvSpPr>
          <p:cNvPr id="27" name="Rectangle 26"/>
          <p:cNvSpPr/>
          <p:nvPr/>
        </p:nvSpPr>
        <p:spPr>
          <a:xfrm>
            <a:off x="4389120" y="3822191"/>
            <a:ext cx="3401568"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89120" y="3822191"/>
            <a:ext cx="82296" cy="1078992"/>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99432" y="3959352"/>
            <a:ext cx="3081528"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TEST</a:t>
            </a:r>
          </a:p>
        </p:txBody>
      </p:sp>
      <p:sp>
        <p:nvSpPr>
          <p:cNvPr id="30" name="TextBox 29"/>
          <p:cNvSpPr txBox="1"/>
          <p:nvPr/>
        </p:nvSpPr>
        <p:spPr>
          <a:xfrm>
            <a:off x="4599432" y="4251959"/>
            <a:ext cx="3081528"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Paired Wilcoxon</a:t>
            </a:r>
          </a:p>
        </p:txBody>
      </p:sp>
      <p:sp>
        <p:nvSpPr>
          <p:cNvPr id="31" name="Rectangle 30"/>
          <p:cNvSpPr/>
          <p:nvPr/>
        </p:nvSpPr>
        <p:spPr>
          <a:xfrm>
            <a:off x="8092440" y="3822191"/>
            <a:ext cx="3401568"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92440" y="3822191"/>
            <a:ext cx="82296" cy="1078992"/>
          </a:xfrm>
          <a:prstGeom prst="rect">
            <a:avLst/>
          </a:prstGeom>
          <a:solidFill>
            <a:srgbClr val="C94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02752" y="3959352"/>
            <a:ext cx="3081528"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MULTIPLICITY</a:t>
            </a:r>
          </a:p>
        </p:txBody>
      </p:sp>
      <p:sp>
        <p:nvSpPr>
          <p:cNvPr id="34" name="TextBox 33"/>
          <p:cNvSpPr txBox="1"/>
          <p:nvPr/>
        </p:nvSpPr>
        <p:spPr>
          <a:xfrm>
            <a:off x="8302752" y="4251959"/>
            <a:ext cx="3081528"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Holm correction</a:t>
            </a:r>
          </a:p>
        </p:txBody>
      </p:sp>
      <p:sp>
        <p:nvSpPr>
          <p:cNvPr id="35" name="TextBox 34"/>
          <p:cNvSpPr txBox="1"/>
          <p:nvPr/>
        </p:nvSpPr>
        <p:spPr>
          <a:xfrm>
            <a:off x="694944" y="5285232"/>
            <a:ext cx="10744200" cy="5029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777777"/>
                </a:solidFill>
                <a:latin typeface="Aptos"/>
              </a:defRPr>
            </a:pPr>
            <a:r>
              <a:t>Chance: 0.33 for three sleep stages | 0.17 for six reach directions</a:t>
            </a:r>
          </a:p>
        </p:txBody>
      </p:sp>
      <p:sp>
        <p:nvSpPr>
          <p:cNvPr id="36" name="TextBox 3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Methods</a:t>
            </a:r>
          </a:p>
        </p:txBody>
      </p:sp>
      <p:sp>
        <p:nvSpPr>
          <p:cNvPr id="37" name="TextBox 3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Mouse EEG provides a 24-hour repeated-session test</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325880"/>
            <a:ext cx="3840480" cy="4297680"/>
          </a:xfrm>
          <a:prstGeom prst="rect">
            <a:avLst/>
          </a:prstGeom>
          <a:solidFill>
            <a:srgbClr val="F5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00784"/>
            <a:ext cx="3246120" cy="548640"/>
          </a:xfrm>
          <a:prstGeom prst="rect">
            <a:avLst/>
          </a:prstGeom>
          <a:noFill/>
          <a:ln>
            <a:noFill/>
          </a:ln>
        </p:spPr>
        <p:txBody>
          <a:bodyPr wrap="square" lIns="73152" rIns="73152" tIns="54864" bIns="54864" anchor="t">
            <a:spAutoFit/>
          </a:bodyPr>
          <a:lstStyle/>
          <a:p>
            <a:pPr algn="ctr">
              <a:spcBef>
                <a:spcPts val="0"/>
              </a:spcBef>
              <a:spcAft>
                <a:spcPts val="0"/>
              </a:spcAft>
              <a:defRPr sz="4500" b="1">
                <a:solidFill>
                  <a:srgbClr val="8F160D"/>
                </a:solidFill>
                <a:latin typeface="Aptos"/>
              </a:defRPr>
            </a:pPr>
            <a:r>
              <a:t>24</a:t>
            </a:r>
          </a:p>
        </p:txBody>
      </p:sp>
      <p:sp>
        <p:nvSpPr>
          <p:cNvPr id="7" name="TextBox 6"/>
          <p:cNvSpPr txBox="1"/>
          <p:nvPr/>
        </p:nvSpPr>
        <p:spPr>
          <a:xfrm>
            <a:off x="868680" y="2331720"/>
            <a:ext cx="3246120" cy="502920"/>
          </a:xfrm>
          <a:prstGeom prst="rect">
            <a:avLst/>
          </a:prstGeom>
          <a:noFill/>
          <a:ln>
            <a:noFill/>
          </a:ln>
        </p:spPr>
        <p:txBody>
          <a:bodyPr wrap="square" lIns="73152" rIns="73152" tIns="54864" bIns="54864" anchor="t">
            <a:spAutoFit/>
          </a:bodyPr>
          <a:lstStyle/>
          <a:p>
            <a:pPr algn="ctr">
              <a:spcBef>
                <a:spcPts val="0"/>
              </a:spcBef>
              <a:spcAft>
                <a:spcPts val="0"/>
              </a:spcAft>
              <a:defRPr sz="2000" b="1">
                <a:solidFill>
                  <a:srgbClr val="191919"/>
                </a:solidFill>
                <a:latin typeface="Aptos"/>
              </a:defRPr>
            </a:pPr>
            <a:r>
              <a:t>one-hour sessions</a:t>
            </a:r>
          </a:p>
        </p:txBody>
      </p:sp>
      <p:sp>
        <p:nvSpPr>
          <p:cNvPr id="8" name="TextBox 7"/>
          <p:cNvSpPr txBox="1"/>
          <p:nvPr/>
        </p:nvSpPr>
        <p:spPr>
          <a:xfrm>
            <a:off x="868680" y="3127248"/>
            <a:ext cx="3246120" cy="548640"/>
          </a:xfrm>
          <a:prstGeom prst="rect">
            <a:avLst/>
          </a:prstGeom>
          <a:noFill/>
          <a:ln>
            <a:noFill/>
          </a:ln>
        </p:spPr>
        <p:txBody>
          <a:bodyPr wrap="square" lIns="73152" rIns="73152" tIns="54864" bIns="54864" anchor="t">
            <a:spAutoFit/>
          </a:bodyPr>
          <a:lstStyle/>
          <a:p>
            <a:pPr algn="ctr">
              <a:spcBef>
                <a:spcPts val="0"/>
              </a:spcBef>
              <a:spcAft>
                <a:spcPts val="0"/>
              </a:spcAft>
              <a:defRPr sz="4500" b="1">
                <a:solidFill>
                  <a:srgbClr val="8F160D"/>
                </a:solidFill>
                <a:latin typeface="Aptos"/>
              </a:defRPr>
            </a:pPr>
            <a:r>
              <a:t>21</a:t>
            </a:r>
          </a:p>
        </p:txBody>
      </p:sp>
      <p:sp>
        <p:nvSpPr>
          <p:cNvPr id="9" name="TextBox 8"/>
          <p:cNvSpPr txBox="1"/>
          <p:nvPr/>
        </p:nvSpPr>
        <p:spPr>
          <a:xfrm>
            <a:off x="868680" y="3749039"/>
            <a:ext cx="3246120" cy="74980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191919"/>
                </a:solidFill>
                <a:latin typeface="Aptos"/>
              </a:defRPr>
            </a:pPr>
            <a:r>
              <a:t>sessions with enough Wake, NREM, and REM</a:t>
            </a:r>
          </a:p>
        </p:txBody>
      </p:sp>
      <p:sp>
        <p:nvSpPr>
          <p:cNvPr id="10" name="TextBox 9"/>
          <p:cNvSpPr txBox="1"/>
          <p:nvPr/>
        </p:nvSpPr>
        <p:spPr>
          <a:xfrm>
            <a:off x="868680" y="4892040"/>
            <a:ext cx="3246120" cy="41148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777777"/>
                </a:solidFill>
                <a:latin typeface="Aptos"/>
              </a:defRPr>
            </a:pPr>
            <a:r>
              <a:t>2-second windows</a:t>
            </a:r>
          </a:p>
        </p:txBody>
      </p:sp>
      <p:sp>
        <p:nvSpPr>
          <p:cNvPr id="11" name="TextBox 10"/>
          <p:cNvSpPr txBox="1"/>
          <p:nvPr/>
        </p:nvSpPr>
        <p:spPr>
          <a:xfrm>
            <a:off x="4892040" y="1508760"/>
            <a:ext cx="6355080" cy="502920"/>
          </a:xfrm>
          <a:prstGeom prst="rect">
            <a:avLst/>
          </a:prstGeom>
          <a:noFill/>
          <a:ln>
            <a:noFill/>
          </a:ln>
        </p:spPr>
        <p:txBody>
          <a:bodyPr wrap="square" lIns="73152" rIns="73152" tIns="54864" bIns="54864" anchor="t">
            <a:spAutoFit/>
          </a:bodyPr>
          <a:lstStyle/>
          <a:p>
            <a:pPr algn="l">
              <a:spcBef>
                <a:spcPts val="0"/>
              </a:spcBef>
              <a:spcAft>
                <a:spcPts val="0"/>
              </a:spcAft>
              <a:defRPr sz="1300" b="1">
                <a:solidFill>
                  <a:srgbClr val="8F160D"/>
                </a:solidFill>
                <a:latin typeface="Aptos"/>
              </a:defRPr>
            </a:pPr>
            <a:r>
              <a:t>Question</a:t>
            </a:r>
          </a:p>
        </p:txBody>
      </p:sp>
      <p:sp>
        <p:nvSpPr>
          <p:cNvPr id="12" name="TextBox 11"/>
          <p:cNvSpPr txBox="1"/>
          <p:nvPr/>
        </p:nvSpPr>
        <p:spPr>
          <a:xfrm>
            <a:off x="4892040" y="1975104"/>
            <a:ext cx="6172200" cy="914400"/>
          </a:xfrm>
          <a:prstGeom prst="rect">
            <a:avLst/>
          </a:prstGeom>
          <a:noFill/>
          <a:ln>
            <a:noFill/>
          </a:ln>
        </p:spPr>
        <p:txBody>
          <a:bodyPr wrap="square" lIns="73152" rIns="73152" tIns="54864" bIns="54864" anchor="t">
            <a:spAutoFit/>
          </a:bodyPr>
          <a:lstStyle/>
          <a:p>
            <a:pPr algn="l">
              <a:spcBef>
                <a:spcPts val="0"/>
              </a:spcBef>
              <a:spcAft>
                <a:spcPts val="0"/>
              </a:spcAft>
              <a:defRPr sz="2500" b="1">
                <a:solidFill>
                  <a:srgbClr val="191919"/>
                </a:solidFill>
                <a:latin typeface="Aptos"/>
              </a:defRPr>
            </a:pPr>
            <a:r>
              <a:t>Can compact geometry decode sleep stage consistently across recording hours?</a:t>
            </a:r>
          </a:p>
        </p:txBody>
      </p:sp>
      <p:sp>
        <p:nvSpPr>
          <p:cNvPr id="13" name="TextBox 12"/>
          <p:cNvSpPr txBox="1"/>
          <p:nvPr/>
        </p:nvSpPr>
        <p:spPr>
          <a:xfrm>
            <a:off x="4919472" y="3291839"/>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a:t>
            </a:r>
          </a:p>
        </p:txBody>
      </p:sp>
      <p:sp>
        <p:nvSpPr>
          <p:cNvPr id="14" name="TextBox 13"/>
          <p:cNvSpPr txBox="1"/>
          <p:nvPr/>
        </p:nvSpPr>
        <p:spPr>
          <a:xfrm>
            <a:off x="5230368" y="3246120"/>
            <a:ext cx="5815584" cy="566928"/>
          </a:xfrm>
          <a:prstGeom prst="rect">
            <a:avLst/>
          </a:prstGeom>
          <a:noFill/>
          <a:ln>
            <a:noFill/>
          </a:ln>
        </p:spPr>
        <p:txBody>
          <a:bodyPr wrap="square" lIns="73152" rIns="73152" tIns="54864" bIns="54864" anchor="t">
            <a:spAutoFit/>
          </a:bodyPr>
          <a:lstStyle/>
          <a:p>
            <a:pPr algn="l">
              <a:spcBef>
                <a:spcPts val="0"/>
              </a:spcBef>
              <a:spcAft>
                <a:spcPts val="0"/>
              </a:spcAft>
              <a:defRPr sz="1800" b="0">
                <a:solidFill>
                  <a:srgbClr val="191919"/>
                </a:solidFill>
                <a:latin typeface="Aptos"/>
              </a:defRPr>
            </a:pPr>
            <a:r>
              <a:t>Three classes: Wake, NREM, REM</a:t>
            </a:r>
          </a:p>
        </p:txBody>
      </p:sp>
      <p:sp>
        <p:nvSpPr>
          <p:cNvPr id="15" name="TextBox 14"/>
          <p:cNvSpPr txBox="1"/>
          <p:nvPr/>
        </p:nvSpPr>
        <p:spPr>
          <a:xfrm>
            <a:off x="4919472" y="3858768"/>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a:t>
            </a:r>
          </a:p>
        </p:txBody>
      </p:sp>
      <p:sp>
        <p:nvSpPr>
          <p:cNvPr id="16" name="TextBox 15"/>
          <p:cNvSpPr txBox="1"/>
          <p:nvPr/>
        </p:nvSpPr>
        <p:spPr>
          <a:xfrm>
            <a:off x="5230368" y="3813048"/>
            <a:ext cx="5815584" cy="566928"/>
          </a:xfrm>
          <a:prstGeom prst="rect">
            <a:avLst/>
          </a:prstGeom>
          <a:noFill/>
          <a:ln>
            <a:noFill/>
          </a:ln>
        </p:spPr>
        <p:txBody>
          <a:bodyPr wrap="square" lIns="73152" rIns="73152" tIns="54864" bIns="54864" anchor="t">
            <a:spAutoFit/>
          </a:bodyPr>
          <a:lstStyle/>
          <a:p>
            <a:pPr algn="l">
              <a:spcBef>
                <a:spcPts val="0"/>
              </a:spcBef>
              <a:spcAft>
                <a:spcPts val="0"/>
              </a:spcAft>
              <a:defRPr sz="1800" b="0">
                <a:solidFill>
                  <a:srgbClr val="191919"/>
                </a:solidFill>
                <a:latin typeface="Aptos"/>
              </a:defRPr>
            </a:pPr>
            <a:r>
              <a:t>Balanced sampling within each hour</a:t>
            </a:r>
          </a:p>
        </p:txBody>
      </p:sp>
      <p:sp>
        <p:nvSpPr>
          <p:cNvPr id="17" name="TextBox 16"/>
          <p:cNvSpPr txBox="1"/>
          <p:nvPr/>
        </p:nvSpPr>
        <p:spPr>
          <a:xfrm>
            <a:off x="4919472" y="4425696"/>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a:t>
            </a:r>
          </a:p>
        </p:txBody>
      </p:sp>
      <p:sp>
        <p:nvSpPr>
          <p:cNvPr id="18" name="TextBox 17"/>
          <p:cNvSpPr txBox="1"/>
          <p:nvPr/>
        </p:nvSpPr>
        <p:spPr>
          <a:xfrm>
            <a:off x="5230368" y="4379976"/>
            <a:ext cx="5815584" cy="566928"/>
          </a:xfrm>
          <a:prstGeom prst="rect">
            <a:avLst/>
          </a:prstGeom>
          <a:noFill/>
          <a:ln>
            <a:noFill/>
          </a:ln>
        </p:spPr>
        <p:txBody>
          <a:bodyPr wrap="square" lIns="73152" rIns="73152" tIns="54864" bIns="54864" anchor="t">
            <a:spAutoFit/>
          </a:bodyPr>
          <a:lstStyle/>
          <a:p>
            <a:pPr algn="l">
              <a:spcBef>
                <a:spcPts val="0"/>
              </a:spcBef>
              <a:spcAft>
                <a:spcPts val="0"/>
              </a:spcAft>
              <a:defRPr sz="1800" b="0">
                <a:solidFill>
                  <a:srgbClr val="191919"/>
                </a:solidFill>
                <a:latin typeface="Aptos"/>
              </a:defRPr>
            </a:pPr>
            <a:r>
              <a:t>Same feature definitions and classifier throughout</a:t>
            </a:r>
          </a:p>
        </p:txBody>
      </p:sp>
      <p:sp>
        <p:nvSpPr>
          <p:cNvPr id="19" name="TextBox 18"/>
          <p:cNvSpPr txBox="1"/>
          <p:nvPr/>
        </p:nvSpPr>
        <p:spPr>
          <a:xfrm>
            <a:off x="4919472" y="4992624"/>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a:t>
            </a:r>
          </a:p>
        </p:txBody>
      </p:sp>
      <p:sp>
        <p:nvSpPr>
          <p:cNvPr id="20" name="TextBox 19"/>
          <p:cNvSpPr txBox="1"/>
          <p:nvPr/>
        </p:nvSpPr>
        <p:spPr>
          <a:xfrm>
            <a:off x="5230368" y="4946904"/>
            <a:ext cx="5815584" cy="566928"/>
          </a:xfrm>
          <a:prstGeom prst="rect">
            <a:avLst/>
          </a:prstGeom>
          <a:noFill/>
          <a:ln>
            <a:noFill/>
          </a:ln>
        </p:spPr>
        <p:txBody>
          <a:bodyPr wrap="square" lIns="73152" rIns="73152" tIns="54864" bIns="54864" anchor="t">
            <a:spAutoFit/>
          </a:bodyPr>
          <a:lstStyle/>
          <a:p>
            <a:pPr algn="l">
              <a:spcBef>
                <a:spcPts val="0"/>
              </a:spcBef>
              <a:spcAft>
                <a:spcPts val="0"/>
              </a:spcAft>
              <a:defRPr sz="1800" b="0">
                <a:solidFill>
                  <a:srgbClr val="191919"/>
                </a:solidFill>
                <a:latin typeface="Aptos"/>
              </a:defRPr>
            </a:pPr>
            <a:r>
              <a:t>Session is the unit of replication</a:t>
            </a:r>
          </a:p>
        </p:txBody>
      </p:sp>
      <p:sp>
        <p:nvSpPr>
          <p:cNvPr id="21" name="TextBox 20"/>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22" name="TextBox 21"/>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Torus decoding remains stable across recording hours</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ssion_f1_heatmap.png"/>
          <p:cNvPicPr>
            <a:picLocks noChangeAspect="1"/>
          </p:cNvPicPr>
          <p:nvPr/>
        </p:nvPicPr>
        <p:blipFill>
          <a:blip r:embed="rId2"/>
          <a:stretch>
            <a:fillRect/>
          </a:stretch>
        </p:blipFill>
        <p:spPr>
          <a:xfrm>
            <a:off x="1831793" y="1188720"/>
            <a:ext cx="5535277" cy="5230368"/>
          </a:xfrm>
          <a:prstGeom prst="rect">
            <a:avLst/>
          </a:prstGeom>
        </p:spPr>
      </p:pic>
      <p:sp>
        <p:nvSpPr>
          <p:cNvPr id="6" name="TextBox 5"/>
          <p:cNvSpPr txBox="1"/>
          <p:nvPr/>
        </p:nvSpPr>
        <p:spPr>
          <a:xfrm>
            <a:off x="8796528" y="1508760"/>
            <a:ext cx="2514600" cy="320040"/>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8F160D"/>
                </a:solidFill>
                <a:latin typeface="Aptos"/>
              </a:defRPr>
            </a:pPr>
            <a:r>
              <a:t>READOUT</a:t>
            </a:r>
          </a:p>
        </p:txBody>
      </p:sp>
      <p:sp>
        <p:nvSpPr>
          <p:cNvPr id="7" name="TextBox 6"/>
          <p:cNvSpPr txBox="1"/>
          <p:nvPr/>
        </p:nvSpPr>
        <p:spPr>
          <a:xfrm>
            <a:off x="8796528" y="1920240"/>
            <a:ext cx="2514600" cy="1024128"/>
          </a:xfrm>
          <a:prstGeom prst="rect">
            <a:avLst/>
          </a:prstGeom>
          <a:noFill/>
          <a:ln>
            <a:noFill/>
          </a:ln>
        </p:spPr>
        <p:txBody>
          <a:bodyPr wrap="square" lIns="73152" rIns="73152" tIns="54864" bIns="54864" anchor="t">
            <a:spAutoFit/>
          </a:bodyPr>
          <a:lstStyle/>
          <a:p>
            <a:pPr algn="l">
              <a:spcBef>
                <a:spcPts val="0"/>
              </a:spcBef>
              <a:spcAft>
                <a:spcPts val="0"/>
              </a:spcAft>
              <a:defRPr sz="2300" b="1">
                <a:solidFill>
                  <a:srgbClr val="191919"/>
                </a:solidFill>
                <a:latin typeface="Aptos"/>
              </a:defRPr>
            </a:pPr>
            <a:r>
              <a:t>Torus F1 spans approximately 0.57-0.75</a:t>
            </a:r>
          </a:p>
        </p:txBody>
      </p:sp>
      <p:sp>
        <p:nvSpPr>
          <p:cNvPr id="8" name="TextBox 7"/>
          <p:cNvSpPr txBox="1"/>
          <p:nvPr/>
        </p:nvSpPr>
        <p:spPr>
          <a:xfrm>
            <a:off x="8796528" y="3218688"/>
            <a:ext cx="2514600" cy="129844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4B4B4B"/>
                </a:solidFill>
                <a:latin typeface="Aptos"/>
              </a:defRPr>
            </a:pPr>
            <a:r>
              <a:t>Torus exceeds every single band in 17 of 21 held-out hours and ties the strongest band in two more.</a:t>
            </a:r>
          </a:p>
        </p:txBody>
      </p:sp>
      <p:sp>
        <p:nvSpPr>
          <p:cNvPr id="9" name="TextBox 8"/>
          <p:cNvSpPr txBox="1"/>
          <p:nvPr/>
        </p:nvSpPr>
        <p:spPr>
          <a:xfrm>
            <a:off x="8796528" y="4937760"/>
            <a:ext cx="2468880" cy="658368"/>
          </a:xfrm>
          <a:prstGeom prst="rect">
            <a:avLst/>
          </a:prstGeom>
          <a:noFill/>
          <a:ln>
            <a:noFill/>
          </a:ln>
        </p:spPr>
        <p:txBody>
          <a:bodyPr wrap="square" lIns="73152" rIns="73152" tIns="54864" bIns="54864" anchor="t">
            <a:spAutoFit/>
          </a:bodyPr>
          <a:lstStyle/>
          <a:p>
            <a:pPr algn="l">
              <a:spcBef>
                <a:spcPts val="0"/>
              </a:spcBef>
              <a:spcAft>
                <a:spcPts val="0"/>
              </a:spcAft>
              <a:defRPr sz="1600" b="1">
                <a:solidFill>
                  <a:srgbClr val="8F160D"/>
                </a:solidFill>
                <a:latin typeface="Aptos"/>
              </a:defRPr>
            </a:pPr>
            <a:r>
              <a:t>Variation is real, but the effect is not carried by one exceptional hour.</a:t>
            </a:r>
          </a:p>
        </p:txBody>
      </p:sp>
      <p:sp>
        <p:nvSpPr>
          <p:cNvPr id="10" name="TextBox 9"/>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11" name="TextBox 10"/>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EEG geometry outperforms compact spectral summaries</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481328"/>
            <a:ext cx="333756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81328"/>
            <a:ext cx="82296" cy="1078992"/>
          </a:xfrm>
          <a:prstGeom prst="rect">
            <a:avLst/>
          </a:prstGeom>
          <a:solidFill>
            <a:srgbClr val="C94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18488"/>
            <a:ext cx="301752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RELEVANT BAND: DELTA</a:t>
            </a:r>
          </a:p>
        </p:txBody>
      </p:sp>
      <p:sp>
        <p:nvSpPr>
          <p:cNvPr id="8" name="TextBox 7"/>
          <p:cNvSpPr txBox="1"/>
          <p:nvPr/>
        </p:nvSpPr>
        <p:spPr>
          <a:xfrm>
            <a:off x="804672" y="1911095"/>
            <a:ext cx="301752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0.470 +/- 0.050 SD</a:t>
            </a:r>
          </a:p>
        </p:txBody>
      </p:sp>
      <p:sp>
        <p:nvSpPr>
          <p:cNvPr id="9" name="Rectangle 8"/>
          <p:cNvSpPr/>
          <p:nvPr/>
        </p:nvSpPr>
        <p:spPr>
          <a:xfrm>
            <a:off x="4425696" y="1481328"/>
            <a:ext cx="333756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25696" y="1481328"/>
            <a:ext cx="82296" cy="107899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6008" y="1618488"/>
            <a:ext cx="301752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AVERAGE PSD</a:t>
            </a:r>
          </a:p>
        </p:txBody>
      </p:sp>
      <p:sp>
        <p:nvSpPr>
          <p:cNvPr id="12" name="TextBox 11"/>
          <p:cNvSpPr txBox="1"/>
          <p:nvPr/>
        </p:nvSpPr>
        <p:spPr>
          <a:xfrm>
            <a:off x="4636008" y="1911095"/>
            <a:ext cx="301752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0.485 +/- 0.062 SD</a:t>
            </a:r>
          </a:p>
        </p:txBody>
      </p:sp>
      <p:sp>
        <p:nvSpPr>
          <p:cNvPr id="13" name="Rectangle 12"/>
          <p:cNvSpPr/>
          <p:nvPr/>
        </p:nvSpPr>
        <p:spPr>
          <a:xfrm>
            <a:off x="8247888" y="1481328"/>
            <a:ext cx="333756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47888" y="1481328"/>
            <a:ext cx="82296" cy="1078992"/>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1618488"/>
            <a:ext cx="301752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TORUS FEATURES</a:t>
            </a:r>
          </a:p>
        </p:txBody>
      </p:sp>
      <p:sp>
        <p:nvSpPr>
          <p:cNvPr id="16" name="TextBox 15"/>
          <p:cNvSpPr txBox="1"/>
          <p:nvPr/>
        </p:nvSpPr>
        <p:spPr>
          <a:xfrm>
            <a:off x="8458200" y="1911095"/>
            <a:ext cx="301752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0.670 +/- 0.060 SD</a:t>
            </a:r>
          </a:p>
        </p:txBody>
      </p:sp>
      <p:sp>
        <p:nvSpPr>
          <p:cNvPr id="17" name="Rectangle 16"/>
          <p:cNvSpPr/>
          <p:nvPr/>
        </p:nvSpPr>
        <p:spPr>
          <a:xfrm>
            <a:off x="2148840" y="3063240"/>
            <a:ext cx="736092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0" y="3172968"/>
            <a:ext cx="2743200" cy="384048"/>
          </a:xfrm>
          <a:prstGeom prst="rect">
            <a:avLst/>
          </a:prstGeom>
          <a:noFill/>
          <a:ln>
            <a:noFill/>
          </a:ln>
        </p:spPr>
        <p:txBody>
          <a:bodyPr wrap="square" lIns="73152" rIns="73152" tIns="54864" bIns="54864" anchor="t">
            <a:spAutoFit/>
          </a:bodyPr>
          <a:lstStyle/>
          <a:p>
            <a:pPr algn="ctr">
              <a:spcBef>
                <a:spcPts val="0"/>
              </a:spcBef>
              <a:spcAft>
                <a:spcPts val="0"/>
              </a:spcAft>
              <a:defRPr sz="1600" b="1">
                <a:solidFill>
                  <a:srgbClr val="8F160D"/>
                </a:solidFill>
                <a:latin typeface="Aptos"/>
              </a:defRPr>
            </a:pPr>
            <a:r>
              <a:t>p = 5.72 x 10^-6</a:t>
            </a:r>
          </a:p>
        </p:txBody>
      </p:sp>
      <p:sp>
        <p:nvSpPr>
          <p:cNvPr id="19" name="TextBox 18"/>
          <p:cNvSpPr txBox="1"/>
          <p:nvPr/>
        </p:nvSpPr>
        <p:spPr>
          <a:xfrm>
            <a:off x="6629400" y="3172968"/>
            <a:ext cx="2743200" cy="384048"/>
          </a:xfrm>
          <a:prstGeom prst="rect">
            <a:avLst/>
          </a:prstGeom>
          <a:noFill/>
          <a:ln>
            <a:noFill/>
          </a:ln>
        </p:spPr>
        <p:txBody>
          <a:bodyPr wrap="square" lIns="73152" rIns="73152" tIns="54864" bIns="54864" anchor="t">
            <a:spAutoFit/>
          </a:bodyPr>
          <a:lstStyle/>
          <a:p>
            <a:pPr algn="ctr">
              <a:spcBef>
                <a:spcPts val="0"/>
              </a:spcBef>
              <a:spcAft>
                <a:spcPts val="0"/>
              </a:spcAft>
              <a:defRPr sz="1600" b="1">
                <a:solidFill>
                  <a:srgbClr val="8F160D"/>
                </a:solidFill>
                <a:latin typeface="Aptos"/>
              </a:defRPr>
            </a:pPr>
            <a:r>
              <a:t>p = 5.72 x 10^-6</a:t>
            </a:r>
          </a:p>
        </p:txBody>
      </p:sp>
      <p:sp>
        <p:nvSpPr>
          <p:cNvPr id="20" name="TextBox 19"/>
          <p:cNvSpPr txBox="1"/>
          <p:nvPr/>
        </p:nvSpPr>
        <p:spPr>
          <a:xfrm>
            <a:off x="868680" y="4023360"/>
            <a:ext cx="10469880" cy="530352"/>
          </a:xfrm>
          <a:prstGeom prst="rect">
            <a:avLst/>
          </a:prstGeom>
          <a:noFill/>
          <a:ln>
            <a:noFill/>
          </a:ln>
        </p:spPr>
        <p:txBody>
          <a:bodyPr wrap="square" lIns="73152" rIns="73152" tIns="54864" bIns="54864" anchor="t">
            <a:spAutoFit/>
          </a:bodyPr>
          <a:lstStyle/>
          <a:p>
            <a:pPr algn="ctr">
              <a:spcBef>
                <a:spcPts val="0"/>
              </a:spcBef>
              <a:spcAft>
                <a:spcPts val="0"/>
              </a:spcAft>
              <a:defRPr sz="2500" b="1">
                <a:solidFill>
                  <a:srgbClr val="191919"/>
                </a:solidFill>
                <a:latin typeface="Aptos"/>
              </a:defRPr>
            </a:pPr>
            <a:r>
              <a:t>Geometry improves F1 by 0.200 over delta and 0.185 over Average PSD.</a:t>
            </a:r>
          </a:p>
        </p:txBody>
      </p:sp>
      <p:sp>
        <p:nvSpPr>
          <p:cNvPr id="21" name="TextBox 20"/>
          <p:cNvSpPr txBox="1"/>
          <p:nvPr/>
        </p:nvSpPr>
        <p:spPr>
          <a:xfrm>
            <a:off x="1051560" y="4873752"/>
            <a:ext cx="10104120" cy="731520"/>
          </a:xfrm>
          <a:prstGeom prst="rect">
            <a:avLst/>
          </a:prstGeom>
          <a:noFill/>
          <a:ln>
            <a:noFill/>
          </a:ln>
        </p:spPr>
        <p:txBody>
          <a:bodyPr wrap="square" lIns="73152" rIns="73152" tIns="54864" bIns="54864" anchor="t">
            <a:spAutoFit/>
          </a:bodyPr>
          <a:lstStyle/>
          <a:p>
            <a:pPr algn="ctr">
              <a:spcBef>
                <a:spcPts val="0"/>
              </a:spcBef>
              <a:spcAft>
                <a:spcPts val="0"/>
              </a:spcAft>
              <a:defRPr sz="1900" b="0">
                <a:solidFill>
                  <a:srgbClr val="4B4B4B"/>
                </a:solidFill>
                <a:latin typeface="Aptos"/>
              </a:defRPr>
            </a:pPr>
            <a:r>
              <a:t>This is the defensible reviewer-facing claim: torus geometry carries information beyond compact spectral summaries.</a:t>
            </a:r>
          </a:p>
        </p:txBody>
      </p:sp>
      <p:sp>
        <p:nvSpPr>
          <p:cNvPr id="22" name="TextBox 21"/>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23" name="TextBox 22"/>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The joint all-band vector is stronger than torus alone</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eg_sleep_feature_f1_barplot.png"/>
          <p:cNvPicPr>
            <a:picLocks noChangeAspect="1"/>
          </p:cNvPicPr>
          <p:nvPr/>
        </p:nvPicPr>
        <p:blipFill>
          <a:blip r:embed="rId2"/>
          <a:stretch>
            <a:fillRect/>
          </a:stretch>
        </p:blipFill>
        <p:spPr>
          <a:xfrm>
            <a:off x="548640" y="2051316"/>
            <a:ext cx="7498079" cy="3413735"/>
          </a:xfrm>
          <a:prstGeom prst="rect">
            <a:avLst/>
          </a:prstGeom>
        </p:spPr>
      </p:pic>
      <p:sp>
        <p:nvSpPr>
          <p:cNvPr id="6" name="Rectangle 5"/>
          <p:cNvSpPr/>
          <p:nvPr/>
        </p:nvSpPr>
        <p:spPr>
          <a:xfrm>
            <a:off x="8321040" y="1536192"/>
            <a:ext cx="3182112" cy="2761488"/>
          </a:xfrm>
          <a:prstGeom prst="rect">
            <a:avLst/>
          </a:prstGeom>
          <a:solidFill>
            <a:srgbClr val="F5E4E0"/>
          </a:solidFill>
          <a:ln w="12700">
            <a:solidFill>
              <a:srgbClr val="8F16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13648" y="1810512"/>
            <a:ext cx="260604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IMPORTANT NUANCE</a:t>
            </a:r>
          </a:p>
        </p:txBody>
      </p:sp>
      <p:sp>
        <p:nvSpPr>
          <p:cNvPr id="8" name="TextBox 7"/>
          <p:cNvSpPr txBox="1"/>
          <p:nvPr/>
        </p:nvSpPr>
        <p:spPr>
          <a:xfrm>
            <a:off x="8613648" y="2331720"/>
            <a:ext cx="2633472" cy="612648"/>
          </a:xfrm>
          <a:prstGeom prst="rect">
            <a:avLst/>
          </a:prstGeom>
          <a:noFill/>
          <a:ln>
            <a:noFill/>
          </a:ln>
        </p:spPr>
        <p:txBody>
          <a:bodyPr wrap="square" lIns="73152" rIns="73152" tIns="54864" bIns="54864" anchor="t">
            <a:spAutoFit/>
          </a:bodyPr>
          <a:lstStyle/>
          <a:p>
            <a:pPr algn="l">
              <a:spcBef>
                <a:spcPts val="0"/>
              </a:spcBef>
              <a:spcAft>
                <a:spcPts val="0"/>
              </a:spcAft>
              <a:defRPr sz="2400" b="1">
                <a:solidFill>
                  <a:srgbClr val="191919"/>
                </a:solidFill>
                <a:latin typeface="Aptos"/>
              </a:defRPr>
            </a:pPr>
            <a:r>
              <a:t>0.696 +/- 0.051 SD</a:t>
            </a:r>
          </a:p>
        </p:txBody>
      </p:sp>
      <p:sp>
        <p:nvSpPr>
          <p:cNvPr id="9" name="TextBox 8"/>
          <p:cNvSpPr txBox="1"/>
          <p:nvPr/>
        </p:nvSpPr>
        <p:spPr>
          <a:xfrm>
            <a:off x="8613648" y="3090672"/>
            <a:ext cx="2615184" cy="859536"/>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4B4B4B"/>
                </a:solidFill>
                <a:latin typeface="Aptos"/>
              </a:defRPr>
            </a:pPr>
            <a:r>
              <a:t>All-band power combines six band powers in one feature vector.</a:t>
            </a:r>
          </a:p>
        </p:txBody>
      </p:sp>
      <p:sp>
        <p:nvSpPr>
          <p:cNvPr id="10" name="TextBox 9"/>
          <p:cNvSpPr txBox="1"/>
          <p:nvPr/>
        </p:nvSpPr>
        <p:spPr>
          <a:xfrm>
            <a:off x="8394192" y="4754880"/>
            <a:ext cx="2999232" cy="868680"/>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Claim: geometry complements spectral summaries. Not: geometry universally beats spectral features.</a:t>
            </a:r>
          </a:p>
        </p:txBody>
      </p:sp>
      <p:sp>
        <p:nvSpPr>
          <p:cNvPr id="11" name="TextBox 10"/>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12" name="TextBox 11"/>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MOUSE EEG</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Removing radius-related terms causes a modest, nonsignificant drop</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eg_torus_order_ablation_f1_barplot.png"/>
          <p:cNvPicPr>
            <a:picLocks noChangeAspect="1"/>
          </p:cNvPicPr>
          <p:nvPr/>
        </p:nvPicPr>
        <p:blipFill>
          <a:blip r:embed="rId2"/>
          <a:stretch>
            <a:fillRect/>
          </a:stretch>
        </p:blipFill>
        <p:spPr>
          <a:xfrm>
            <a:off x="1277784" y="1143000"/>
            <a:ext cx="5353990" cy="5349240"/>
          </a:xfrm>
          <a:prstGeom prst="rect">
            <a:avLst/>
          </a:prstGeom>
        </p:spPr>
      </p:pic>
      <p:sp>
        <p:nvSpPr>
          <p:cNvPr id="6" name="TextBox 5"/>
          <p:cNvSpPr txBox="1"/>
          <p:nvPr/>
        </p:nvSpPr>
        <p:spPr>
          <a:xfrm>
            <a:off x="7635240" y="1417320"/>
            <a:ext cx="3566160" cy="347472"/>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WHAT WAS REMOVED</a:t>
            </a:r>
          </a:p>
        </p:txBody>
      </p:sp>
      <p:sp>
        <p:nvSpPr>
          <p:cNvPr id="7" name="TextBox 6"/>
          <p:cNvSpPr txBox="1"/>
          <p:nvPr/>
        </p:nvSpPr>
        <p:spPr>
          <a:xfrm>
            <a:off x="7635240" y="1911095"/>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8" name="TextBox 7"/>
          <p:cNvSpPr txBox="1"/>
          <p:nvPr/>
        </p:nvSpPr>
        <p:spPr>
          <a:xfrm>
            <a:off x="7946136" y="1865376"/>
            <a:ext cx="33009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minor radius r</a:t>
            </a:r>
          </a:p>
        </p:txBody>
      </p:sp>
      <p:sp>
        <p:nvSpPr>
          <p:cNvPr id="9" name="TextBox 8"/>
          <p:cNvSpPr txBox="1"/>
          <p:nvPr/>
        </p:nvSpPr>
        <p:spPr>
          <a:xfrm>
            <a:off x="7635240" y="2386584"/>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10" name="TextBox 9"/>
          <p:cNvSpPr txBox="1"/>
          <p:nvPr/>
        </p:nvSpPr>
        <p:spPr>
          <a:xfrm>
            <a:off x="7946136" y="2340864"/>
            <a:ext cx="33009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fit MSE</a:t>
            </a:r>
          </a:p>
        </p:txBody>
      </p:sp>
      <p:sp>
        <p:nvSpPr>
          <p:cNvPr id="11" name="TextBox 10"/>
          <p:cNvSpPr txBox="1"/>
          <p:nvPr/>
        </p:nvSpPr>
        <p:spPr>
          <a:xfrm>
            <a:off x="7635240" y="2862072"/>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12" name="TextBox 11"/>
          <p:cNvSpPr txBox="1"/>
          <p:nvPr/>
        </p:nvSpPr>
        <p:spPr>
          <a:xfrm>
            <a:off x="7946136" y="2816352"/>
            <a:ext cx="33009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mean surface error</a:t>
            </a:r>
          </a:p>
        </p:txBody>
      </p:sp>
      <p:sp>
        <p:nvSpPr>
          <p:cNvPr id="13" name="TextBox 12"/>
          <p:cNvSpPr txBox="1"/>
          <p:nvPr/>
        </p:nvSpPr>
        <p:spPr>
          <a:xfrm>
            <a:off x="7635240" y="3337560"/>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14" name="TextBox 13"/>
          <p:cNvSpPr txBox="1"/>
          <p:nvPr/>
        </p:nvSpPr>
        <p:spPr>
          <a:xfrm>
            <a:off x="7946136" y="3291840"/>
            <a:ext cx="33009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fraction inside</a:t>
            </a:r>
          </a:p>
        </p:txBody>
      </p:sp>
      <p:sp>
        <p:nvSpPr>
          <p:cNvPr id="15" name="TextBox 14"/>
          <p:cNvSpPr txBox="1"/>
          <p:nvPr/>
        </p:nvSpPr>
        <p:spPr>
          <a:xfrm>
            <a:off x="7635240" y="4251960"/>
            <a:ext cx="361188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INTERPRETATION</a:t>
            </a:r>
          </a:p>
        </p:txBody>
      </p:sp>
      <p:sp>
        <p:nvSpPr>
          <p:cNvPr id="16" name="TextBox 15"/>
          <p:cNvSpPr txBox="1"/>
          <p:nvPr/>
        </p:nvSpPr>
        <p:spPr>
          <a:xfrm>
            <a:off x="7635240" y="4663440"/>
            <a:ext cx="3639312" cy="960120"/>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A quick 15D-to-11D feature ablation, not a refitted lower-order model.</a:t>
            </a:r>
          </a:p>
        </p:txBody>
      </p:sp>
      <p:sp>
        <p:nvSpPr>
          <p:cNvPr id="17" name="TextBox 16"/>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Mouse EEG</a:t>
            </a:r>
          </a:p>
        </p:txBody>
      </p:sp>
      <p:sp>
        <p:nvSpPr>
          <p:cNvPr id="18" name="TextBox 17"/>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A reviewer-requested motor task extends the test across species and behavior</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sk_sanity.png"/>
          <p:cNvPicPr>
            <a:picLocks noChangeAspect="1"/>
          </p:cNvPicPr>
          <p:nvPr/>
        </p:nvPicPr>
        <p:blipFill>
          <a:blip r:embed="rId2"/>
          <a:stretch>
            <a:fillRect/>
          </a:stretch>
        </p:blipFill>
        <p:spPr>
          <a:xfrm>
            <a:off x="530352" y="2398328"/>
            <a:ext cx="7635240" cy="2747143"/>
          </a:xfrm>
          <a:prstGeom prst="rect">
            <a:avLst/>
          </a:prstGeom>
        </p:spPr>
      </p:pic>
      <p:sp>
        <p:nvSpPr>
          <p:cNvPr id="6" name="Rectangle 5"/>
          <p:cNvSpPr/>
          <p:nvPr/>
        </p:nvSpPr>
        <p:spPr>
          <a:xfrm>
            <a:off x="8458200" y="1353312"/>
            <a:ext cx="297180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58200" y="1353312"/>
            <a:ext cx="82296" cy="1078992"/>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1490472"/>
            <a:ext cx="265176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DATASET</a:t>
            </a:r>
          </a:p>
        </p:txBody>
      </p:sp>
      <p:sp>
        <p:nvSpPr>
          <p:cNvPr id="9" name="TextBox 8"/>
          <p:cNvSpPr txBox="1"/>
          <p:nvPr/>
        </p:nvSpPr>
        <p:spPr>
          <a:xfrm>
            <a:off x="8668512" y="1783080"/>
            <a:ext cx="265176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2 macaques</a:t>
            </a:r>
          </a:p>
        </p:txBody>
      </p:sp>
      <p:sp>
        <p:nvSpPr>
          <p:cNvPr id="10" name="Rectangle 9"/>
          <p:cNvSpPr/>
          <p:nvPr/>
        </p:nvSpPr>
        <p:spPr>
          <a:xfrm>
            <a:off x="8458200" y="2670048"/>
            <a:ext cx="297180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58200" y="2670048"/>
            <a:ext cx="82296" cy="1078992"/>
          </a:xfrm>
          <a:prstGeom prst="rect">
            <a:avLst/>
          </a:prstGeom>
          <a:solidFill>
            <a:srgbClr val="C94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68512" y="2807208"/>
            <a:ext cx="265176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CONVERTED</a:t>
            </a:r>
          </a:p>
        </p:txBody>
      </p:sp>
      <p:sp>
        <p:nvSpPr>
          <p:cNvPr id="13" name="TextBox 12"/>
          <p:cNvSpPr txBox="1"/>
          <p:nvPr/>
        </p:nvSpPr>
        <p:spPr>
          <a:xfrm>
            <a:off x="8668512" y="3099815"/>
            <a:ext cx="265176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341 unique LFPs</a:t>
            </a:r>
          </a:p>
        </p:txBody>
      </p:sp>
      <p:sp>
        <p:nvSpPr>
          <p:cNvPr id="14" name="Rectangle 13"/>
          <p:cNvSpPr/>
          <p:nvPr/>
        </p:nvSpPr>
        <p:spPr>
          <a:xfrm>
            <a:off x="8458200" y="3986784"/>
            <a:ext cx="297180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58200" y="3986784"/>
            <a:ext cx="82296" cy="1078992"/>
          </a:xfrm>
          <a:prstGeom prst="rect">
            <a:avLst/>
          </a:prstGeom>
          <a:solidFill>
            <a:srgbClr val="315C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8512" y="4123944"/>
            <a:ext cx="265176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MAIN ANALYSIS</a:t>
            </a:r>
          </a:p>
        </p:txBody>
      </p:sp>
      <p:sp>
        <p:nvSpPr>
          <p:cNvPr id="17" name="TextBox 16"/>
          <p:cNvSpPr txBox="1"/>
          <p:nvPr/>
        </p:nvSpPr>
        <p:spPr>
          <a:xfrm>
            <a:off x="8668512" y="4416552"/>
            <a:ext cx="265176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237 six-direction LFPs</a:t>
            </a:r>
          </a:p>
        </p:txBody>
      </p:sp>
      <p:sp>
        <p:nvSpPr>
          <p:cNvPr id="18" name="TextBox 17"/>
          <p:cNvSpPr txBox="1"/>
          <p:nvPr/>
        </p:nvSpPr>
        <p:spPr>
          <a:xfrm>
            <a:off x="8549640" y="5449824"/>
            <a:ext cx="2816352" cy="566928"/>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191919"/>
                </a:solidFill>
                <a:latin typeface="Aptos"/>
              </a:defRPr>
            </a:pPr>
            <a:r>
              <a:t>Decode reach direction from the movement-aligned LFP epoch.</a:t>
            </a:r>
          </a:p>
        </p:txBody>
      </p:sp>
      <p:sp>
        <p:nvSpPr>
          <p:cNvPr id="19" name="TextBox 18"/>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20" name="TextBox 19"/>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Lag parameters are estimated independently for each LFP trace</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acaque_lfp_pertrace_embedding_figure4c_style_pertrace_tau_dim.png"/>
          <p:cNvPicPr>
            <a:picLocks noChangeAspect="1"/>
          </p:cNvPicPr>
          <p:nvPr/>
        </p:nvPicPr>
        <p:blipFill>
          <a:blip r:embed="rId2"/>
          <a:stretch>
            <a:fillRect/>
          </a:stretch>
        </p:blipFill>
        <p:spPr>
          <a:xfrm>
            <a:off x="658368" y="1622718"/>
            <a:ext cx="5120640" cy="4252642"/>
          </a:xfrm>
          <a:prstGeom prst="rect">
            <a:avLst/>
          </a:prstGeom>
        </p:spPr>
      </p:pic>
      <p:sp>
        <p:nvSpPr>
          <p:cNvPr id="6" name="TextBox 5"/>
          <p:cNvSpPr txBox="1"/>
          <p:nvPr/>
        </p:nvSpPr>
        <p:spPr>
          <a:xfrm>
            <a:off x="6217920" y="1417320"/>
            <a:ext cx="4709160" cy="329184"/>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TAU: TEMPORAL SEPARATION</a:t>
            </a:r>
          </a:p>
        </p:txBody>
      </p:sp>
      <p:sp>
        <p:nvSpPr>
          <p:cNvPr id="7" name="TextBox 6"/>
          <p:cNvSpPr txBox="1"/>
          <p:nvPr/>
        </p:nvSpPr>
        <p:spPr>
          <a:xfrm>
            <a:off x="6217920" y="1856231"/>
            <a:ext cx="4800600" cy="896112"/>
          </a:xfrm>
          <a:prstGeom prst="rect">
            <a:avLst/>
          </a:prstGeom>
          <a:noFill/>
          <a:ln>
            <a:noFill/>
          </a:ln>
        </p:spPr>
        <p:txBody>
          <a:bodyPr wrap="square" lIns="73152" rIns="73152" tIns="54864" bIns="54864" anchor="t">
            <a:spAutoFit/>
          </a:bodyPr>
          <a:lstStyle/>
          <a:p>
            <a:pPr algn="l">
              <a:spcBef>
                <a:spcPts val="0"/>
              </a:spcBef>
              <a:spcAft>
                <a:spcPts val="0"/>
              </a:spcAft>
              <a:defRPr sz="2100" b="1">
                <a:solidFill>
                  <a:srgbClr val="191919"/>
                </a:solidFill>
                <a:latin typeface="Aptos"/>
              </a:defRPr>
            </a:pPr>
            <a:r>
              <a:t>First local minimum of average mutual information, with autocorrelation fallbacks.</a:t>
            </a:r>
          </a:p>
        </p:txBody>
      </p:sp>
      <p:sp>
        <p:nvSpPr>
          <p:cNvPr id="8" name="TextBox 7"/>
          <p:cNvSpPr txBox="1"/>
          <p:nvPr/>
        </p:nvSpPr>
        <p:spPr>
          <a:xfrm>
            <a:off x="6217920" y="3017520"/>
            <a:ext cx="4709160" cy="329184"/>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DIMENSION: MODE COUNT</a:t>
            </a:r>
          </a:p>
        </p:txBody>
      </p:sp>
      <p:sp>
        <p:nvSpPr>
          <p:cNvPr id="9" name="TextBox 8"/>
          <p:cNvSpPr txBox="1"/>
          <p:nvPr/>
        </p:nvSpPr>
        <p:spPr>
          <a:xfrm>
            <a:off x="6217920" y="3456432"/>
            <a:ext cx="4800600" cy="896112"/>
          </a:xfrm>
          <a:prstGeom prst="rect">
            <a:avLst/>
          </a:prstGeom>
          <a:noFill/>
          <a:ln>
            <a:noFill/>
          </a:ln>
        </p:spPr>
        <p:txBody>
          <a:bodyPr wrap="square" lIns="73152" rIns="73152" tIns="54864" bIns="54864" anchor="t">
            <a:spAutoFit/>
          </a:bodyPr>
          <a:lstStyle/>
          <a:p>
            <a:pPr algn="l">
              <a:spcBef>
                <a:spcPts val="0"/>
              </a:spcBef>
              <a:spcAft>
                <a:spcPts val="0"/>
              </a:spcAft>
              <a:defRPr sz="2100" b="1">
                <a:solidFill>
                  <a:srgbClr val="191919"/>
                </a:solidFill>
                <a:latin typeface="Aptos"/>
              </a:defRPr>
            </a:pPr>
            <a:r>
              <a:t>Robust PSD peaks after 1/f correction; embedding dimension = 2K + 1, capped at 9D.</a:t>
            </a:r>
          </a:p>
        </p:txBody>
      </p:sp>
      <p:sp>
        <p:nvSpPr>
          <p:cNvPr id="10" name="TextBox 9"/>
          <p:cNvSpPr txBox="1"/>
          <p:nvPr/>
        </p:nvSpPr>
        <p:spPr>
          <a:xfrm>
            <a:off x="6217920" y="4773168"/>
            <a:ext cx="2240280" cy="749808"/>
          </a:xfrm>
          <a:prstGeom prst="rect">
            <a:avLst/>
          </a:prstGeom>
          <a:solidFill>
            <a:srgbClr val="F5E4E0"/>
          </a:solidFill>
          <a:ln>
            <a:solidFill>
              <a:srgbClr val="8F160D"/>
            </a:solidFill>
          </a:ln>
        </p:spPr>
        <p:txBody>
          <a:bodyPr wrap="square" lIns="73152" rIns="73152" tIns="54864" bIns="54864" anchor="ctr">
            <a:spAutoFit/>
          </a:bodyPr>
          <a:lstStyle/>
          <a:p>
            <a:pPr algn="ctr">
              <a:spcBef>
                <a:spcPts val="0"/>
              </a:spcBef>
              <a:spcAft>
                <a:spcPts val="0"/>
              </a:spcAft>
              <a:defRPr sz="2300" b="1">
                <a:solidFill>
                  <a:srgbClr val="8F160D"/>
                </a:solidFill>
                <a:latin typeface="Aptos"/>
              </a:defRPr>
            </a:pPr>
            <a:r>
              <a:t>Median tau</a:t>
            </a:r>
          </a:p>
          <a:p>
            <a:pPr algn="ctr">
              <a:spcBef>
                <a:spcPts val="0"/>
              </a:spcBef>
              <a:spcAft>
                <a:spcPts val="0"/>
              </a:spcAft>
              <a:defRPr sz="2300" b="1">
                <a:solidFill>
                  <a:srgbClr val="8F160D"/>
                </a:solidFill>
                <a:latin typeface="Aptos"/>
              </a:defRPr>
            </a:pPr>
            <a:r>
              <a:t>17 ms</a:t>
            </a:r>
          </a:p>
        </p:txBody>
      </p:sp>
      <p:sp>
        <p:nvSpPr>
          <p:cNvPr id="11" name="TextBox 10"/>
          <p:cNvSpPr txBox="1"/>
          <p:nvPr/>
        </p:nvSpPr>
        <p:spPr>
          <a:xfrm>
            <a:off x="8705088" y="4773168"/>
            <a:ext cx="2423160" cy="749808"/>
          </a:xfrm>
          <a:prstGeom prst="rect">
            <a:avLst/>
          </a:prstGeom>
          <a:solidFill>
            <a:srgbClr val="F5E4E0"/>
          </a:solidFill>
          <a:ln>
            <a:solidFill>
              <a:srgbClr val="8F160D"/>
            </a:solidFill>
          </a:ln>
        </p:spPr>
        <p:txBody>
          <a:bodyPr wrap="square" lIns="73152" rIns="73152" tIns="54864" bIns="54864" anchor="ctr">
            <a:spAutoFit/>
          </a:bodyPr>
          <a:lstStyle/>
          <a:p>
            <a:pPr algn="ctr">
              <a:spcBef>
                <a:spcPts val="0"/>
              </a:spcBef>
              <a:spcAft>
                <a:spcPts val="0"/>
              </a:spcAft>
              <a:defRPr sz="2300" b="1">
                <a:solidFill>
                  <a:srgbClr val="8F160D"/>
                </a:solidFill>
                <a:latin typeface="Aptos"/>
              </a:defRPr>
            </a:pPr>
            <a:r>
              <a:t>Dimensions</a:t>
            </a:r>
          </a:p>
          <a:p>
            <a:pPr algn="ctr">
              <a:spcBef>
                <a:spcPts val="0"/>
              </a:spcBef>
              <a:spcAft>
                <a:spcPts val="0"/>
              </a:spcAft>
              <a:defRPr sz="2300" b="1">
                <a:solidFill>
                  <a:srgbClr val="8F160D"/>
                </a:solidFill>
                <a:latin typeface="Aptos"/>
              </a:defRPr>
            </a:pPr>
            <a:r>
              <a:t>3D to 9D</a:t>
            </a:r>
          </a:p>
        </p:txBody>
      </p:sp>
      <p:sp>
        <p:nvSpPr>
          <p:cNvPr id="12" name="TextBox 11"/>
          <p:cNvSpPr txBox="1"/>
          <p:nvPr/>
        </p:nvSpPr>
        <p:spPr>
          <a:xfrm>
            <a:off x="6245352" y="5760720"/>
            <a:ext cx="4846320" cy="320040"/>
          </a:xfrm>
          <a:prstGeom prst="rect">
            <a:avLst/>
          </a:prstGeom>
          <a:noFill/>
          <a:ln>
            <a:noFill/>
          </a:ln>
        </p:spPr>
        <p:txBody>
          <a:bodyPr wrap="square" lIns="73152" rIns="73152" tIns="54864" bIns="54864" anchor="t">
            <a:spAutoFit/>
          </a:bodyPr>
          <a:lstStyle/>
          <a:p>
            <a:pPr algn="ctr">
              <a:spcBef>
                <a:spcPts val="0"/>
              </a:spcBef>
              <a:spcAft>
                <a:spcPts val="0"/>
              </a:spcAft>
              <a:defRPr sz="1300" b="1">
                <a:solidFill>
                  <a:srgbClr val="777777"/>
                </a:solidFill>
                <a:latin typeface="Aptos"/>
              </a:defRPr>
            </a:pPr>
            <a:r>
              <a:t>3D: 34 | 5D: 103 | 7D: 123 | 9D: 81</a:t>
            </a:r>
          </a:p>
        </p:txBody>
      </p:sp>
      <p:sp>
        <p:nvSpPr>
          <p:cNvPr id="13" name="TextBox 12"/>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14" name="TextBox 13"/>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Torus features decode six reach directions above compact baselines</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rection_movement_feature_f1_barplot_nonlinear_torus_full_6_direction_lfps_pertrace_tau_dim.png"/>
          <p:cNvPicPr>
            <a:picLocks noChangeAspect="1"/>
          </p:cNvPicPr>
          <p:nvPr/>
        </p:nvPicPr>
        <p:blipFill>
          <a:blip r:embed="rId2"/>
          <a:stretch>
            <a:fillRect/>
          </a:stretch>
        </p:blipFill>
        <p:spPr>
          <a:xfrm>
            <a:off x="566928" y="2079325"/>
            <a:ext cx="7452360" cy="3394293"/>
          </a:xfrm>
          <a:prstGeom prst="rect">
            <a:avLst/>
          </a:prstGeom>
        </p:spPr>
      </p:pic>
      <p:sp>
        <p:nvSpPr>
          <p:cNvPr id="6" name="Rectangle 5"/>
          <p:cNvSpPr/>
          <p:nvPr/>
        </p:nvSpPr>
        <p:spPr>
          <a:xfrm>
            <a:off x="8275320" y="1417320"/>
            <a:ext cx="315468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75320" y="1417320"/>
            <a:ext cx="82296" cy="1078992"/>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85632" y="1554480"/>
            <a:ext cx="283464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TORUS FEATURES</a:t>
            </a:r>
          </a:p>
        </p:txBody>
      </p:sp>
      <p:sp>
        <p:nvSpPr>
          <p:cNvPr id="9" name="TextBox 8"/>
          <p:cNvSpPr txBox="1"/>
          <p:nvPr/>
        </p:nvSpPr>
        <p:spPr>
          <a:xfrm>
            <a:off x="8485632" y="1847088"/>
            <a:ext cx="283464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0.181 +/- 0.032 SD</a:t>
            </a:r>
          </a:p>
        </p:txBody>
      </p:sp>
      <p:sp>
        <p:nvSpPr>
          <p:cNvPr id="10" name="Rectangle 9"/>
          <p:cNvSpPr/>
          <p:nvPr/>
        </p:nvSpPr>
        <p:spPr>
          <a:xfrm>
            <a:off x="8275320" y="2761488"/>
            <a:ext cx="315468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75320" y="2761488"/>
            <a:ext cx="82296" cy="1078992"/>
          </a:xfrm>
          <a:prstGeom prst="rect">
            <a:avLst/>
          </a:prstGeom>
          <a:solidFill>
            <a:srgbClr val="C94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85632" y="2898648"/>
            <a:ext cx="283464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RELEVANT BAND: BETA</a:t>
            </a:r>
          </a:p>
        </p:txBody>
      </p:sp>
      <p:sp>
        <p:nvSpPr>
          <p:cNvPr id="13" name="TextBox 12"/>
          <p:cNvSpPr txBox="1"/>
          <p:nvPr/>
        </p:nvSpPr>
        <p:spPr>
          <a:xfrm>
            <a:off x="8485632" y="3191256"/>
            <a:ext cx="283464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0.157 +/- 0.028 SD</a:t>
            </a:r>
          </a:p>
        </p:txBody>
      </p:sp>
      <p:sp>
        <p:nvSpPr>
          <p:cNvPr id="14" name="Rectangle 13"/>
          <p:cNvSpPr/>
          <p:nvPr/>
        </p:nvSpPr>
        <p:spPr>
          <a:xfrm>
            <a:off x="8275320" y="4105656"/>
            <a:ext cx="315468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75320" y="4105656"/>
            <a:ext cx="82296" cy="107899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85632" y="4242816"/>
            <a:ext cx="283464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AVERAGE PSD</a:t>
            </a:r>
          </a:p>
        </p:txBody>
      </p:sp>
      <p:sp>
        <p:nvSpPr>
          <p:cNvPr id="17" name="TextBox 16"/>
          <p:cNvSpPr txBox="1"/>
          <p:nvPr/>
        </p:nvSpPr>
        <p:spPr>
          <a:xfrm>
            <a:off x="8485632" y="4535424"/>
            <a:ext cx="283464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0.159 +/- 0.030 SD</a:t>
            </a:r>
          </a:p>
        </p:txBody>
      </p:sp>
      <p:sp>
        <p:nvSpPr>
          <p:cNvPr id="18" name="TextBox 17"/>
          <p:cNvSpPr txBox="1"/>
          <p:nvPr/>
        </p:nvSpPr>
        <p:spPr>
          <a:xfrm>
            <a:off x="8412480" y="5596128"/>
            <a:ext cx="2880360" cy="347472"/>
          </a:xfrm>
          <a:prstGeom prst="rect">
            <a:avLst/>
          </a:prstGeom>
          <a:noFill/>
          <a:ln>
            <a:noFill/>
          </a:ln>
        </p:spPr>
        <p:txBody>
          <a:bodyPr wrap="square" lIns="73152" rIns="73152" tIns="54864" bIns="54864" anchor="t">
            <a:spAutoFit/>
          </a:bodyPr>
          <a:lstStyle/>
          <a:p>
            <a:pPr algn="ctr">
              <a:spcBef>
                <a:spcPts val="0"/>
              </a:spcBef>
              <a:spcAft>
                <a:spcPts val="0"/>
              </a:spcAft>
              <a:defRPr sz="1400" b="1">
                <a:solidFill>
                  <a:srgbClr val="777777"/>
                </a:solidFill>
                <a:latin typeface="Aptos"/>
              </a:defRPr>
            </a:pPr>
            <a:r>
              <a:t>Chance F1 approx. 0.17</a:t>
            </a:r>
          </a:p>
        </p:txBody>
      </p:sp>
      <p:sp>
        <p:nvSpPr>
          <p:cNvPr id="19" name="TextBox 18"/>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20" name="TextBox 19"/>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Small macaque geometry gains are highly consistent</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508760"/>
            <a:ext cx="324612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508760"/>
            <a:ext cx="82296" cy="1078992"/>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645919"/>
            <a:ext cx="2926079"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TORUS MINUS BETA</a:t>
            </a:r>
          </a:p>
        </p:txBody>
      </p:sp>
      <p:sp>
        <p:nvSpPr>
          <p:cNvPr id="8" name="TextBox 7"/>
          <p:cNvSpPr txBox="1"/>
          <p:nvPr/>
        </p:nvSpPr>
        <p:spPr>
          <a:xfrm>
            <a:off x="987552" y="1938528"/>
            <a:ext cx="2926079"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+0.024 F1</a:t>
            </a:r>
          </a:p>
        </p:txBody>
      </p:sp>
      <p:sp>
        <p:nvSpPr>
          <p:cNvPr id="9" name="Rectangle 8"/>
          <p:cNvSpPr/>
          <p:nvPr/>
        </p:nvSpPr>
        <p:spPr>
          <a:xfrm>
            <a:off x="4480560" y="1508760"/>
            <a:ext cx="324612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80560" y="1508760"/>
            <a:ext cx="82296" cy="1078992"/>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90872" y="1645919"/>
            <a:ext cx="2926079"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TORUS MINUS AVERAGE PSD</a:t>
            </a:r>
          </a:p>
        </p:txBody>
      </p:sp>
      <p:sp>
        <p:nvSpPr>
          <p:cNvPr id="12" name="TextBox 11"/>
          <p:cNvSpPr txBox="1"/>
          <p:nvPr/>
        </p:nvSpPr>
        <p:spPr>
          <a:xfrm>
            <a:off x="4690872" y="1938528"/>
            <a:ext cx="2926079"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+0.022 F1</a:t>
            </a:r>
          </a:p>
        </p:txBody>
      </p:sp>
      <p:sp>
        <p:nvSpPr>
          <p:cNvPr id="13" name="Rectangle 12"/>
          <p:cNvSpPr/>
          <p:nvPr/>
        </p:nvSpPr>
        <p:spPr>
          <a:xfrm>
            <a:off x="8183879" y="1508760"/>
            <a:ext cx="324612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79" y="1508760"/>
            <a:ext cx="82296" cy="1078992"/>
          </a:xfrm>
          <a:prstGeom prst="rect">
            <a:avLst/>
          </a:prstGeom>
          <a:solidFill>
            <a:srgbClr val="315C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645919"/>
            <a:ext cx="2926079"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MATCHED UNITS</a:t>
            </a:r>
          </a:p>
        </p:txBody>
      </p:sp>
      <p:sp>
        <p:nvSpPr>
          <p:cNvPr id="16" name="TextBox 15"/>
          <p:cNvSpPr txBox="1"/>
          <p:nvPr/>
        </p:nvSpPr>
        <p:spPr>
          <a:xfrm>
            <a:off x="8394192" y="1938528"/>
            <a:ext cx="2926079"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237 LFPs</a:t>
            </a:r>
          </a:p>
        </p:txBody>
      </p:sp>
      <p:sp>
        <p:nvSpPr>
          <p:cNvPr id="17" name="TextBox 16"/>
          <p:cNvSpPr txBox="1"/>
          <p:nvPr/>
        </p:nvSpPr>
        <p:spPr>
          <a:xfrm>
            <a:off x="1005840" y="3246120"/>
            <a:ext cx="4297680" cy="411480"/>
          </a:xfrm>
          <a:prstGeom prst="rect">
            <a:avLst/>
          </a:prstGeom>
          <a:noFill/>
          <a:ln>
            <a:noFill/>
          </a:ln>
        </p:spPr>
        <p:txBody>
          <a:bodyPr wrap="square" lIns="73152" rIns="73152" tIns="54864" bIns="54864" anchor="t">
            <a:spAutoFit/>
          </a:bodyPr>
          <a:lstStyle/>
          <a:p>
            <a:pPr algn="ctr">
              <a:spcBef>
                <a:spcPts val="0"/>
              </a:spcBef>
              <a:spcAft>
                <a:spcPts val="0"/>
              </a:spcAft>
              <a:defRPr sz="2400" b="1">
                <a:solidFill>
                  <a:srgbClr val="8F160D"/>
                </a:solidFill>
                <a:latin typeface="Aptos"/>
              </a:defRPr>
            </a:pPr>
            <a:r>
              <a:t>p = 2.32 x 10^-15</a:t>
            </a:r>
          </a:p>
        </p:txBody>
      </p:sp>
      <p:sp>
        <p:nvSpPr>
          <p:cNvPr id="18" name="TextBox 17"/>
          <p:cNvSpPr txBox="1"/>
          <p:nvPr/>
        </p:nvSpPr>
        <p:spPr>
          <a:xfrm>
            <a:off x="6903720" y="3246120"/>
            <a:ext cx="4297680" cy="411480"/>
          </a:xfrm>
          <a:prstGeom prst="rect">
            <a:avLst/>
          </a:prstGeom>
          <a:noFill/>
          <a:ln>
            <a:noFill/>
          </a:ln>
        </p:spPr>
        <p:txBody>
          <a:bodyPr wrap="square" lIns="73152" rIns="73152" tIns="54864" bIns="54864" anchor="t">
            <a:spAutoFit/>
          </a:bodyPr>
          <a:lstStyle/>
          <a:p>
            <a:pPr algn="ctr">
              <a:spcBef>
                <a:spcPts val="0"/>
              </a:spcBef>
              <a:spcAft>
                <a:spcPts val="0"/>
              </a:spcAft>
              <a:defRPr sz="2400" b="1">
                <a:solidFill>
                  <a:srgbClr val="8F160D"/>
                </a:solidFill>
                <a:latin typeface="Aptos"/>
              </a:defRPr>
            </a:pPr>
            <a:r>
              <a:t>p = 2.97 x 10^-13</a:t>
            </a:r>
          </a:p>
        </p:txBody>
      </p:sp>
      <p:sp>
        <p:nvSpPr>
          <p:cNvPr id="19" name="Rectangle 18"/>
          <p:cNvSpPr/>
          <p:nvPr/>
        </p:nvSpPr>
        <p:spPr>
          <a:xfrm>
            <a:off x="1828800" y="3858768"/>
            <a:ext cx="8549640" cy="9144"/>
          </a:xfrm>
          <a:prstGeom prst="rect">
            <a:avLst/>
          </a:prstGeom>
          <a:solidFill>
            <a:srgbClr val="DDD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251960"/>
            <a:ext cx="10149840" cy="676656"/>
          </a:xfrm>
          <a:prstGeom prst="rect">
            <a:avLst/>
          </a:prstGeom>
          <a:noFill/>
          <a:ln>
            <a:noFill/>
          </a:ln>
        </p:spPr>
        <p:txBody>
          <a:bodyPr wrap="square" lIns="73152" rIns="73152" tIns="54864" bIns="54864" anchor="t">
            <a:spAutoFit/>
          </a:bodyPr>
          <a:lstStyle/>
          <a:p>
            <a:pPr algn="ctr">
              <a:spcBef>
                <a:spcPts val="0"/>
              </a:spcBef>
              <a:spcAft>
                <a:spcPts val="0"/>
              </a:spcAft>
              <a:defRPr sz="2600" b="1">
                <a:solidFill>
                  <a:srgbClr val="191919"/>
                </a:solidFill>
                <a:latin typeface="Aptos"/>
              </a:defRPr>
            </a:pPr>
            <a:r>
              <a:t>The small mean difference is highly consistent across independent LFP recordings.</a:t>
            </a:r>
          </a:p>
        </p:txBody>
      </p:sp>
      <p:sp>
        <p:nvSpPr>
          <p:cNvPr id="21" name="TextBox 20"/>
          <p:cNvSpPr txBox="1"/>
          <p:nvPr/>
        </p:nvSpPr>
        <p:spPr>
          <a:xfrm>
            <a:off x="1207008" y="5212080"/>
            <a:ext cx="9784080" cy="530352"/>
          </a:xfrm>
          <a:prstGeom prst="rect">
            <a:avLst/>
          </a:prstGeom>
          <a:noFill/>
          <a:ln>
            <a:noFill/>
          </a:ln>
        </p:spPr>
        <p:txBody>
          <a:bodyPr wrap="square" lIns="73152" rIns="73152" tIns="54864" bIns="54864" anchor="t">
            <a:spAutoFit/>
          </a:bodyPr>
          <a:lstStyle/>
          <a:p>
            <a:pPr algn="ctr">
              <a:spcBef>
                <a:spcPts val="0"/>
              </a:spcBef>
              <a:spcAft>
                <a:spcPts val="0"/>
              </a:spcAft>
              <a:defRPr sz="1700" b="0">
                <a:solidFill>
                  <a:srgbClr val="777777"/>
                </a:solidFill>
                <a:latin typeface="Aptos"/>
              </a:defRPr>
            </a:pPr>
            <a:r>
              <a:t>Paired Wilcoxon signed-rank tests; Holm correction across the three planned comparisons.</a:t>
            </a:r>
          </a:p>
        </p:txBody>
      </p:sp>
      <p:sp>
        <p:nvSpPr>
          <p:cNvPr id="22" name="TextBox 21"/>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23" name="TextBox 22"/>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The qualitative result replicates separately in both macaques</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rection_movement_feature_f1_heatmap_by_monkey_pertrace_tau_dim.png"/>
          <p:cNvPicPr>
            <a:picLocks noChangeAspect="1"/>
          </p:cNvPicPr>
          <p:nvPr/>
        </p:nvPicPr>
        <p:blipFill>
          <a:blip r:embed="rId2"/>
          <a:stretch>
            <a:fillRect/>
          </a:stretch>
        </p:blipFill>
        <p:spPr>
          <a:xfrm>
            <a:off x="640080" y="2233140"/>
            <a:ext cx="7818120" cy="2574599"/>
          </a:xfrm>
          <a:prstGeom prst="rect">
            <a:avLst/>
          </a:prstGeom>
        </p:spPr>
      </p:pic>
      <p:sp>
        <p:nvSpPr>
          <p:cNvPr id="6" name="TextBox 5"/>
          <p:cNvSpPr txBox="1"/>
          <p:nvPr/>
        </p:nvSpPr>
        <p:spPr>
          <a:xfrm>
            <a:off x="8778240" y="1627632"/>
            <a:ext cx="256032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MONKEY M</a:t>
            </a:r>
          </a:p>
        </p:txBody>
      </p:sp>
      <p:sp>
        <p:nvSpPr>
          <p:cNvPr id="7" name="TextBox 6"/>
          <p:cNvSpPr txBox="1"/>
          <p:nvPr/>
        </p:nvSpPr>
        <p:spPr>
          <a:xfrm>
            <a:off x="8778240" y="2057400"/>
            <a:ext cx="2560320" cy="56692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Torus F1</a:t>
            </a:r>
          </a:p>
          <a:p>
            <a:pPr algn="l">
              <a:spcBef>
                <a:spcPts val="0"/>
              </a:spcBef>
              <a:spcAft>
                <a:spcPts val="0"/>
              </a:spcAft>
              <a:defRPr sz="2200" b="1">
                <a:solidFill>
                  <a:srgbClr val="191919"/>
                </a:solidFill>
                <a:latin typeface="Aptos"/>
              </a:defRPr>
            </a:pPr>
            <a:r>
              <a:t>0.175 +/- 0.034</a:t>
            </a:r>
          </a:p>
        </p:txBody>
      </p:sp>
      <p:sp>
        <p:nvSpPr>
          <p:cNvPr id="8" name="TextBox 7"/>
          <p:cNvSpPr txBox="1"/>
          <p:nvPr/>
        </p:nvSpPr>
        <p:spPr>
          <a:xfrm>
            <a:off x="8778240" y="2999232"/>
            <a:ext cx="256032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MONKEY T</a:t>
            </a:r>
          </a:p>
        </p:txBody>
      </p:sp>
      <p:sp>
        <p:nvSpPr>
          <p:cNvPr id="9" name="TextBox 8"/>
          <p:cNvSpPr txBox="1"/>
          <p:nvPr/>
        </p:nvSpPr>
        <p:spPr>
          <a:xfrm>
            <a:off x="8778240" y="3429000"/>
            <a:ext cx="2560320" cy="56692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Torus F1</a:t>
            </a:r>
          </a:p>
          <a:p>
            <a:pPr algn="l">
              <a:spcBef>
                <a:spcPts val="0"/>
              </a:spcBef>
              <a:spcAft>
                <a:spcPts val="0"/>
              </a:spcAft>
              <a:defRPr sz="2200" b="1">
                <a:solidFill>
                  <a:srgbClr val="191919"/>
                </a:solidFill>
                <a:latin typeface="Aptos"/>
              </a:defRPr>
            </a:pPr>
            <a:r>
              <a:t>0.188 +/- 0.028</a:t>
            </a:r>
          </a:p>
        </p:txBody>
      </p:sp>
      <p:sp>
        <p:nvSpPr>
          <p:cNvPr id="10" name="TextBox 9"/>
          <p:cNvSpPr txBox="1"/>
          <p:nvPr/>
        </p:nvSpPr>
        <p:spPr>
          <a:xfrm>
            <a:off x="8613648" y="4736592"/>
            <a:ext cx="2880360" cy="713232"/>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Replication by animal - not train-on-one, test-on-the-other transfer.</a:t>
            </a:r>
          </a:p>
        </p:txBody>
      </p:sp>
      <p:sp>
        <p:nvSpPr>
          <p:cNvPr id="11" name="TextBox 10"/>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12" name="TextBox 11"/>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MACAQUE LFP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Geometry complements beta and Average PSD, not all-band power</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ooled_additive_torus_comparison_f1_barplot_pertrace_tau_dim.png"/>
          <p:cNvPicPr>
            <a:picLocks noChangeAspect="1"/>
          </p:cNvPicPr>
          <p:nvPr/>
        </p:nvPicPr>
        <p:blipFill>
          <a:blip r:embed="rId2"/>
          <a:stretch>
            <a:fillRect/>
          </a:stretch>
        </p:blipFill>
        <p:spPr>
          <a:xfrm>
            <a:off x="566928" y="1926348"/>
            <a:ext cx="7772400" cy="3691103"/>
          </a:xfrm>
          <a:prstGeom prst="rect">
            <a:avLst/>
          </a:prstGeom>
        </p:spPr>
      </p:pic>
      <p:sp>
        <p:nvSpPr>
          <p:cNvPr id="6" name="TextBox 5"/>
          <p:cNvSpPr txBox="1"/>
          <p:nvPr/>
        </p:nvSpPr>
        <p:spPr>
          <a:xfrm>
            <a:off x="8686800" y="1417320"/>
            <a:ext cx="2578608" cy="301752"/>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ADDITIVE EFFECT</a:t>
            </a:r>
          </a:p>
        </p:txBody>
      </p:sp>
      <p:sp>
        <p:nvSpPr>
          <p:cNvPr id="7" name="TextBox 6"/>
          <p:cNvSpPr txBox="1"/>
          <p:nvPr/>
        </p:nvSpPr>
        <p:spPr>
          <a:xfrm>
            <a:off x="8686800" y="1874519"/>
            <a:ext cx="2578608" cy="65836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+0.029 F1</a:t>
            </a:r>
          </a:p>
          <a:p>
            <a:pPr algn="l">
              <a:spcBef>
                <a:spcPts val="0"/>
              </a:spcBef>
              <a:spcAft>
                <a:spcPts val="0"/>
              </a:spcAft>
              <a:defRPr sz="2200" b="1">
                <a:solidFill>
                  <a:srgbClr val="191919"/>
                </a:solidFill>
                <a:latin typeface="Aptos"/>
              </a:defRPr>
            </a:pPr>
            <a:r>
              <a:t>Torus + beta</a:t>
            </a:r>
          </a:p>
        </p:txBody>
      </p:sp>
      <p:sp>
        <p:nvSpPr>
          <p:cNvPr id="8" name="TextBox 7"/>
          <p:cNvSpPr txBox="1"/>
          <p:nvPr/>
        </p:nvSpPr>
        <p:spPr>
          <a:xfrm>
            <a:off x="8686800" y="2788920"/>
            <a:ext cx="2578608" cy="65836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+0.030 F1</a:t>
            </a:r>
          </a:p>
          <a:p>
            <a:pPr algn="l">
              <a:spcBef>
                <a:spcPts val="0"/>
              </a:spcBef>
              <a:spcAft>
                <a:spcPts val="0"/>
              </a:spcAft>
              <a:defRPr sz="2200" b="1">
                <a:solidFill>
                  <a:srgbClr val="191919"/>
                </a:solidFill>
                <a:latin typeface="Aptos"/>
              </a:defRPr>
            </a:pPr>
            <a:r>
              <a:t>Torus + Average PSD</a:t>
            </a:r>
          </a:p>
        </p:txBody>
      </p:sp>
      <p:sp>
        <p:nvSpPr>
          <p:cNvPr id="9" name="TextBox 8"/>
          <p:cNvSpPr txBox="1"/>
          <p:nvPr/>
        </p:nvSpPr>
        <p:spPr>
          <a:xfrm>
            <a:off x="8686800" y="3822191"/>
            <a:ext cx="2578608" cy="65836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-0.002 F1</a:t>
            </a:r>
          </a:p>
          <a:p>
            <a:pPr algn="l">
              <a:spcBef>
                <a:spcPts val="0"/>
              </a:spcBef>
              <a:spcAft>
                <a:spcPts val="0"/>
              </a:spcAft>
              <a:defRPr sz="2200" b="1">
                <a:solidFill>
                  <a:srgbClr val="191919"/>
                </a:solidFill>
                <a:latin typeface="Aptos"/>
              </a:defRPr>
            </a:pPr>
            <a:r>
              <a:t>Torus + all bands</a:t>
            </a:r>
          </a:p>
        </p:txBody>
      </p:sp>
      <p:sp>
        <p:nvSpPr>
          <p:cNvPr id="10" name="TextBox 9"/>
          <p:cNvSpPr txBox="1"/>
          <p:nvPr/>
        </p:nvSpPr>
        <p:spPr>
          <a:xfrm>
            <a:off x="8613648" y="5010912"/>
            <a:ext cx="2761488" cy="74980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Complementarity is strongest when the spectral baseline is compact.</a:t>
            </a:r>
          </a:p>
        </p:txBody>
      </p:sp>
      <p:sp>
        <p:nvSpPr>
          <p:cNvPr id="11" name="TextBox 10"/>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LFP</a:t>
            </a:r>
          </a:p>
        </p:txBody>
      </p:sp>
      <p:sp>
        <p:nvSpPr>
          <p:cNvPr id="12" name="TextBox 11"/>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CONCLUSIONS</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The rebuttal turns the geometry into a testable application story</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98448"/>
            <a:ext cx="621792" cy="457200"/>
          </a:xfrm>
          <a:prstGeom prst="rect">
            <a:avLst/>
          </a:prstGeom>
          <a:noFill/>
          <a:ln>
            <a:noFill/>
          </a:ln>
        </p:spPr>
        <p:txBody>
          <a:bodyPr wrap="square" lIns="73152" rIns="73152" tIns="54864" bIns="54864" anchor="t">
            <a:spAutoFit/>
          </a:bodyPr>
          <a:lstStyle/>
          <a:p>
            <a:pPr algn="ctr">
              <a:spcBef>
                <a:spcPts val="0"/>
              </a:spcBef>
              <a:spcAft>
                <a:spcPts val="0"/>
              </a:spcAft>
              <a:defRPr sz="2300" b="1">
                <a:solidFill>
                  <a:srgbClr val="8F160D"/>
                </a:solidFill>
                <a:latin typeface="Aptos"/>
              </a:defRPr>
            </a:pPr>
            <a:r>
              <a:t>01</a:t>
            </a:r>
          </a:p>
        </p:txBody>
      </p:sp>
      <p:sp>
        <p:nvSpPr>
          <p:cNvPr id="6" name="Rectangle 5"/>
          <p:cNvSpPr/>
          <p:nvPr/>
        </p:nvSpPr>
        <p:spPr>
          <a:xfrm>
            <a:off x="1444752" y="1508760"/>
            <a:ext cx="59436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67712" y="1271016"/>
            <a:ext cx="2834640" cy="27432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777777"/>
                </a:solidFill>
                <a:latin typeface="Aptos"/>
              </a:defRPr>
            </a:pPr>
            <a:r>
              <a:t>BEHAVIORAL UTILITY</a:t>
            </a:r>
          </a:p>
        </p:txBody>
      </p:sp>
      <p:sp>
        <p:nvSpPr>
          <p:cNvPr id="8" name="TextBox 7"/>
          <p:cNvSpPr txBox="1"/>
          <p:nvPr/>
        </p:nvSpPr>
        <p:spPr>
          <a:xfrm>
            <a:off x="2267712" y="1627631"/>
            <a:ext cx="8732520" cy="658368"/>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Torus features decode sleep stage and reach direction across two species and recording modalities.</a:t>
            </a:r>
          </a:p>
        </p:txBody>
      </p:sp>
      <p:sp>
        <p:nvSpPr>
          <p:cNvPr id="9" name="TextBox 8"/>
          <p:cNvSpPr txBox="1"/>
          <p:nvPr/>
        </p:nvSpPr>
        <p:spPr>
          <a:xfrm>
            <a:off x="685800" y="2743200"/>
            <a:ext cx="621792" cy="457200"/>
          </a:xfrm>
          <a:prstGeom prst="rect">
            <a:avLst/>
          </a:prstGeom>
          <a:noFill/>
          <a:ln>
            <a:noFill/>
          </a:ln>
        </p:spPr>
        <p:txBody>
          <a:bodyPr wrap="square" lIns="73152" rIns="73152" tIns="54864" bIns="54864" anchor="t">
            <a:spAutoFit/>
          </a:bodyPr>
          <a:lstStyle/>
          <a:p>
            <a:pPr algn="ctr">
              <a:spcBef>
                <a:spcPts val="0"/>
              </a:spcBef>
              <a:spcAft>
                <a:spcPts val="0"/>
              </a:spcAft>
              <a:defRPr sz="2300" b="1">
                <a:solidFill>
                  <a:srgbClr val="8F160D"/>
                </a:solidFill>
                <a:latin typeface="Aptos"/>
              </a:defRPr>
            </a:pPr>
            <a:r>
              <a:t>02</a:t>
            </a:r>
          </a:p>
        </p:txBody>
      </p:sp>
      <p:sp>
        <p:nvSpPr>
          <p:cNvPr id="10" name="Rectangle 9"/>
          <p:cNvSpPr/>
          <p:nvPr/>
        </p:nvSpPr>
        <p:spPr>
          <a:xfrm>
            <a:off x="1444752" y="2953512"/>
            <a:ext cx="59436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67712" y="2715768"/>
            <a:ext cx="2834640" cy="27432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777777"/>
                </a:solidFill>
                <a:latin typeface="Aptos"/>
              </a:defRPr>
            </a:pPr>
            <a:r>
              <a:t>COMPLEMENTARITY</a:t>
            </a:r>
          </a:p>
        </p:txBody>
      </p:sp>
      <p:sp>
        <p:nvSpPr>
          <p:cNvPr id="12" name="TextBox 11"/>
          <p:cNvSpPr txBox="1"/>
          <p:nvPr/>
        </p:nvSpPr>
        <p:spPr>
          <a:xfrm>
            <a:off x="2267712" y="3072384"/>
            <a:ext cx="8732520" cy="658368"/>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Geometry consistently beats a relevant single band and Average PSD, and improves them when concatenated.</a:t>
            </a:r>
          </a:p>
        </p:txBody>
      </p:sp>
      <p:sp>
        <p:nvSpPr>
          <p:cNvPr id="13" name="TextBox 12"/>
          <p:cNvSpPr txBox="1"/>
          <p:nvPr/>
        </p:nvSpPr>
        <p:spPr>
          <a:xfrm>
            <a:off x="685800" y="4187952"/>
            <a:ext cx="621792" cy="457200"/>
          </a:xfrm>
          <a:prstGeom prst="rect">
            <a:avLst/>
          </a:prstGeom>
          <a:noFill/>
          <a:ln>
            <a:noFill/>
          </a:ln>
        </p:spPr>
        <p:txBody>
          <a:bodyPr wrap="square" lIns="73152" rIns="73152" tIns="54864" bIns="54864" anchor="t">
            <a:spAutoFit/>
          </a:bodyPr>
          <a:lstStyle/>
          <a:p>
            <a:pPr algn="ctr">
              <a:spcBef>
                <a:spcPts val="0"/>
              </a:spcBef>
              <a:spcAft>
                <a:spcPts val="0"/>
              </a:spcAft>
              <a:defRPr sz="2300" b="1">
                <a:solidFill>
                  <a:srgbClr val="8F160D"/>
                </a:solidFill>
                <a:latin typeface="Aptos"/>
              </a:defRPr>
            </a:pPr>
            <a:r>
              <a:t>03</a:t>
            </a:r>
          </a:p>
        </p:txBody>
      </p:sp>
      <p:sp>
        <p:nvSpPr>
          <p:cNvPr id="14" name="Rectangle 13"/>
          <p:cNvSpPr/>
          <p:nvPr/>
        </p:nvSpPr>
        <p:spPr>
          <a:xfrm>
            <a:off x="1444752" y="4398264"/>
            <a:ext cx="59436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67712" y="4160520"/>
            <a:ext cx="2834640" cy="27432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777777"/>
                </a:solidFill>
                <a:latin typeface="Aptos"/>
              </a:defRPr>
            </a:pPr>
            <a:r>
              <a:t>CALIBRATED CLAIM</a:t>
            </a:r>
          </a:p>
        </p:txBody>
      </p:sp>
      <p:sp>
        <p:nvSpPr>
          <p:cNvPr id="16" name="TextBox 15"/>
          <p:cNvSpPr txBox="1"/>
          <p:nvPr/>
        </p:nvSpPr>
        <p:spPr>
          <a:xfrm>
            <a:off x="2267712" y="4517136"/>
            <a:ext cx="8732520" cy="658368"/>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All-band power remains stronger than torus alone; the contribution is a principled geometric representation, not universal decoder supremacy.</a:t>
            </a:r>
          </a:p>
        </p:txBody>
      </p:sp>
      <p:sp>
        <p:nvSpPr>
          <p:cNvPr id="17" name="Rectangle 16"/>
          <p:cNvSpPr/>
          <p:nvPr/>
        </p:nvSpPr>
        <p:spPr>
          <a:xfrm>
            <a:off x="658368" y="5669280"/>
            <a:ext cx="10881360" cy="548640"/>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751576"/>
            <a:ext cx="10469880" cy="347472"/>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FFFFFF"/>
                </a:solidFill>
                <a:latin typeface="Aptos"/>
              </a:defRPr>
            </a:pPr>
            <a:r>
              <a:t>Next: Rudra - reproducible package, GitHub tutorial, and future applications</a:t>
            </a:r>
          </a:p>
        </p:txBody>
      </p:sp>
      <p:sp>
        <p:nvSpPr>
          <p:cNvPr id="19" name="TextBox 18"/>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Conclusions</a:t>
            </a:r>
          </a:p>
        </p:txBody>
      </p:sp>
      <p:sp>
        <p:nvSpPr>
          <p:cNvPr id="20" name="TextBox 19"/>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The torus decoder uses 15 geometric features</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61872"/>
            <a:ext cx="333756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SIZE</a:t>
            </a:r>
          </a:p>
        </p:txBody>
      </p:sp>
      <p:sp>
        <p:nvSpPr>
          <p:cNvPr id="6" name="TextBox 5"/>
          <p:cNvSpPr txBox="1"/>
          <p:nvPr/>
        </p:nvSpPr>
        <p:spPr>
          <a:xfrm>
            <a:off x="731520" y="1746504"/>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8F160D"/>
                </a:solidFill>
                <a:latin typeface="Aptos"/>
              </a:defRPr>
            </a:pPr>
            <a:r>
              <a:t>-</a:t>
            </a:r>
          </a:p>
        </p:txBody>
      </p:sp>
      <p:sp>
        <p:nvSpPr>
          <p:cNvPr id="7" name="TextBox 6"/>
          <p:cNvSpPr txBox="1"/>
          <p:nvPr/>
        </p:nvSpPr>
        <p:spPr>
          <a:xfrm>
            <a:off x="1042416" y="1700784"/>
            <a:ext cx="3072384" cy="566928"/>
          </a:xfrm>
          <a:prstGeom prst="rect">
            <a:avLst/>
          </a:prstGeom>
          <a:noFill/>
          <a:ln>
            <a:noFill/>
          </a:ln>
        </p:spPr>
        <p:txBody>
          <a:bodyPr wrap="square" lIns="73152" rIns="73152" tIns="54864" bIns="54864" anchor="t">
            <a:spAutoFit/>
          </a:bodyPr>
          <a:lstStyle/>
          <a:p>
            <a:pPr algn="l">
              <a:spcBef>
                <a:spcPts val="0"/>
              </a:spcBef>
              <a:spcAft>
                <a:spcPts val="0"/>
              </a:spcAft>
              <a:defRPr sz="1900" b="0">
                <a:solidFill>
                  <a:srgbClr val="191919"/>
                </a:solidFill>
                <a:latin typeface="Aptos"/>
              </a:defRPr>
            </a:pPr>
            <a:r>
              <a:t>Major radius R1</a:t>
            </a:r>
          </a:p>
        </p:txBody>
      </p:sp>
      <p:sp>
        <p:nvSpPr>
          <p:cNvPr id="8" name="TextBox 7"/>
          <p:cNvSpPr txBox="1"/>
          <p:nvPr/>
        </p:nvSpPr>
        <p:spPr>
          <a:xfrm>
            <a:off x="731520" y="2313432"/>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8F160D"/>
                </a:solidFill>
                <a:latin typeface="Aptos"/>
              </a:defRPr>
            </a:pPr>
            <a:r>
              <a:t>-</a:t>
            </a:r>
          </a:p>
        </p:txBody>
      </p:sp>
      <p:sp>
        <p:nvSpPr>
          <p:cNvPr id="9" name="TextBox 8"/>
          <p:cNvSpPr txBox="1"/>
          <p:nvPr/>
        </p:nvSpPr>
        <p:spPr>
          <a:xfrm>
            <a:off x="1042416" y="2267712"/>
            <a:ext cx="3072384" cy="566928"/>
          </a:xfrm>
          <a:prstGeom prst="rect">
            <a:avLst/>
          </a:prstGeom>
          <a:noFill/>
          <a:ln>
            <a:noFill/>
          </a:ln>
        </p:spPr>
        <p:txBody>
          <a:bodyPr wrap="square" lIns="73152" rIns="73152" tIns="54864" bIns="54864" anchor="t">
            <a:spAutoFit/>
          </a:bodyPr>
          <a:lstStyle/>
          <a:p>
            <a:pPr algn="l">
              <a:spcBef>
                <a:spcPts val="0"/>
              </a:spcBef>
              <a:spcAft>
                <a:spcPts val="0"/>
              </a:spcAft>
              <a:defRPr sz="1900" b="0">
                <a:solidFill>
                  <a:srgbClr val="191919"/>
                </a:solidFill>
                <a:latin typeface="Aptos"/>
              </a:defRPr>
            </a:pPr>
            <a:r>
              <a:t>Major radius R2</a:t>
            </a:r>
          </a:p>
        </p:txBody>
      </p:sp>
      <p:sp>
        <p:nvSpPr>
          <p:cNvPr id="10" name="TextBox 9"/>
          <p:cNvSpPr txBox="1"/>
          <p:nvPr/>
        </p:nvSpPr>
        <p:spPr>
          <a:xfrm>
            <a:off x="731520" y="2880360"/>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8F160D"/>
                </a:solidFill>
                <a:latin typeface="Aptos"/>
              </a:defRPr>
            </a:pPr>
            <a:r>
              <a:t>-</a:t>
            </a:r>
          </a:p>
        </p:txBody>
      </p:sp>
      <p:sp>
        <p:nvSpPr>
          <p:cNvPr id="11" name="TextBox 10"/>
          <p:cNvSpPr txBox="1"/>
          <p:nvPr/>
        </p:nvSpPr>
        <p:spPr>
          <a:xfrm>
            <a:off x="1042416" y="2834640"/>
            <a:ext cx="3072384" cy="566928"/>
          </a:xfrm>
          <a:prstGeom prst="rect">
            <a:avLst/>
          </a:prstGeom>
          <a:noFill/>
          <a:ln>
            <a:noFill/>
          </a:ln>
        </p:spPr>
        <p:txBody>
          <a:bodyPr wrap="square" lIns="73152" rIns="73152" tIns="54864" bIns="54864" anchor="t">
            <a:spAutoFit/>
          </a:bodyPr>
          <a:lstStyle/>
          <a:p>
            <a:pPr algn="l">
              <a:spcBef>
                <a:spcPts val="0"/>
              </a:spcBef>
              <a:spcAft>
                <a:spcPts val="0"/>
              </a:spcAft>
              <a:defRPr sz="1900" b="0">
                <a:solidFill>
                  <a:srgbClr val="191919"/>
                </a:solidFill>
                <a:latin typeface="Aptos"/>
              </a:defRPr>
            </a:pPr>
            <a:r>
              <a:t>Tube radius r</a:t>
            </a:r>
          </a:p>
        </p:txBody>
      </p:sp>
      <p:sp>
        <p:nvSpPr>
          <p:cNvPr id="12" name="TextBox 11"/>
          <p:cNvSpPr txBox="1"/>
          <p:nvPr/>
        </p:nvSpPr>
        <p:spPr>
          <a:xfrm>
            <a:off x="4389120" y="1261872"/>
            <a:ext cx="333756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FIT QUALITY</a:t>
            </a:r>
          </a:p>
        </p:txBody>
      </p:sp>
      <p:sp>
        <p:nvSpPr>
          <p:cNvPr id="13" name="TextBox 12"/>
          <p:cNvSpPr txBox="1"/>
          <p:nvPr/>
        </p:nvSpPr>
        <p:spPr>
          <a:xfrm>
            <a:off x="4389120" y="1746504"/>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8F160D"/>
                </a:solidFill>
                <a:latin typeface="Aptos"/>
              </a:defRPr>
            </a:pPr>
            <a:r>
              <a:t>-</a:t>
            </a:r>
          </a:p>
        </p:txBody>
      </p:sp>
      <p:sp>
        <p:nvSpPr>
          <p:cNvPr id="14" name="TextBox 13"/>
          <p:cNvSpPr txBox="1"/>
          <p:nvPr/>
        </p:nvSpPr>
        <p:spPr>
          <a:xfrm>
            <a:off x="4700016" y="1700784"/>
            <a:ext cx="3072384" cy="566928"/>
          </a:xfrm>
          <a:prstGeom prst="rect">
            <a:avLst/>
          </a:prstGeom>
          <a:noFill/>
          <a:ln>
            <a:noFill/>
          </a:ln>
        </p:spPr>
        <p:txBody>
          <a:bodyPr wrap="square" lIns="73152" rIns="73152" tIns="54864" bIns="54864" anchor="t">
            <a:spAutoFit/>
          </a:bodyPr>
          <a:lstStyle/>
          <a:p>
            <a:pPr algn="l">
              <a:spcBef>
                <a:spcPts val="0"/>
              </a:spcBef>
              <a:spcAft>
                <a:spcPts val="0"/>
              </a:spcAft>
              <a:defRPr sz="1900" b="0">
                <a:solidFill>
                  <a:srgbClr val="191919"/>
                </a:solidFill>
                <a:latin typeface="Aptos"/>
              </a:defRPr>
            </a:pPr>
            <a:r>
              <a:t>Mean-squared error</a:t>
            </a:r>
          </a:p>
        </p:txBody>
      </p:sp>
      <p:sp>
        <p:nvSpPr>
          <p:cNvPr id="15" name="TextBox 14"/>
          <p:cNvSpPr txBox="1"/>
          <p:nvPr/>
        </p:nvSpPr>
        <p:spPr>
          <a:xfrm>
            <a:off x="4389120" y="2313432"/>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8F160D"/>
                </a:solidFill>
                <a:latin typeface="Aptos"/>
              </a:defRPr>
            </a:pPr>
            <a:r>
              <a:t>-</a:t>
            </a:r>
          </a:p>
        </p:txBody>
      </p:sp>
      <p:sp>
        <p:nvSpPr>
          <p:cNvPr id="16" name="TextBox 15"/>
          <p:cNvSpPr txBox="1"/>
          <p:nvPr/>
        </p:nvSpPr>
        <p:spPr>
          <a:xfrm>
            <a:off x="4700016" y="2267712"/>
            <a:ext cx="3072384" cy="566928"/>
          </a:xfrm>
          <a:prstGeom prst="rect">
            <a:avLst/>
          </a:prstGeom>
          <a:noFill/>
          <a:ln>
            <a:noFill/>
          </a:ln>
        </p:spPr>
        <p:txBody>
          <a:bodyPr wrap="square" lIns="73152" rIns="73152" tIns="54864" bIns="54864" anchor="t">
            <a:spAutoFit/>
          </a:bodyPr>
          <a:lstStyle/>
          <a:p>
            <a:pPr algn="l">
              <a:spcBef>
                <a:spcPts val="0"/>
              </a:spcBef>
              <a:spcAft>
                <a:spcPts val="0"/>
              </a:spcAft>
              <a:defRPr sz="1900" b="0">
                <a:solidFill>
                  <a:srgbClr val="191919"/>
                </a:solidFill>
                <a:latin typeface="Aptos"/>
              </a:defRPr>
            </a:pPr>
            <a:r>
              <a:t>Mean surface error</a:t>
            </a:r>
          </a:p>
        </p:txBody>
      </p:sp>
      <p:sp>
        <p:nvSpPr>
          <p:cNvPr id="17" name="TextBox 16"/>
          <p:cNvSpPr txBox="1"/>
          <p:nvPr/>
        </p:nvSpPr>
        <p:spPr>
          <a:xfrm>
            <a:off x="4389120" y="2880360"/>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8F160D"/>
                </a:solidFill>
                <a:latin typeface="Aptos"/>
              </a:defRPr>
            </a:pPr>
            <a:r>
              <a:t>-</a:t>
            </a:r>
          </a:p>
        </p:txBody>
      </p:sp>
      <p:sp>
        <p:nvSpPr>
          <p:cNvPr id="18" name="TextBox 17"/>
          <p:cNvSpPr txBox="1"/>
          <p:nvPr/>
        </p:nvSpPr>
        <p:spPr>
          <a:xfrm>
            <a:off x="4700016" y="2834640"/>
            <a:ext cx="3072384" cy="566928"/>
          </a:xfrm>
          <a:prstGeom prst="rect">
            <a:avLst/>
          </a:prstGeom>
          <a:noFill/>
          <a:ln>
            <a:noFill/>
          </a:ln>
        </p:spPr>
        <p:txBody>
          <a:bodyPr wrap="square" lIns="73152" rIns="73152" tIns="54864" bIns="54864" anchor="t">
            <a:spAutoFit/>
          </a:bodyPr>
          <a:lstStyle/>
          <a:p>
            <a:pPr algn="l">
              <a:spcBef>
                <a:spcPts val="0"/>
              </a:spcBef>
              <a:spcAft>
                <a:spcPts val="0"/>
              </a:spcAft>
              <a:defRPr sz="1900" b="0">
                <a:solidFill>
                  <a:srgbClr val="191919"/>
                </a:solidFill>
                <a:latin typeface="Aptos"/>
              </a:defRPr>
            </a:pPr>
            <a:r>
              <a:t>Fraction inside</a:t>
            </a:r>
          </a:p>
        </p:txBody>
      </p:sp>
      <p:sp>
        <p:nvSpPr>
          <p:cNvPr id="19" name="TextBox 18"/>
          <p:cNvSpPr txBox="1"/>
          <p:nvPr/>
        </p:nvSpPr>
        <p:spPr>
          <a:xfrm>
            <a:off x="8046720" y="1261872"/>
            <a:ext cx="333756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POSE: 9 COMPONENTS</a:t>
            </a:r>
          </a:p>
        </p:txBody>
      </p:sp>
      <p:sp>
        <p:nvSpPr>
          <p:cNvPr id="20" name="TextBox 19"/>
          <p:cNvSpPr txBox="1"/>
          <p:nvPr/>
        </p:nvSpPr>
        <p:spPr>
          <a:xfrm>
            <a:off x="8046720" y="1746504"/>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8F160D"/>
                </a:solidFill>
                <a:latin typeface="Aptos"/>
              </a:defRPr>
            </a:pPr>
            <a:r>
              <a:t>-</a:t>
            </a:r>
          </a:p>
        </p:txBody>
      </p:sp>
      <p:sp>
        <p:nvSpPr>
          <p:cNvPr id="21" name="TextBox 20"/>
          <p:cNvSpPr txBox="1"/>
          <p:nvPr/>
        </p:nvSpPr>
        <p:spPr>
          <a:xfrm>
            <a:off x="8357616" y="1700784"/>
            <a:ext cx="3072384" cy="566928"/>
          </a:xfrm>
          <a:prstGeom prst="rect">
            <a:avLst/>
          </a:prstGeom>
          <a:noFill/>
          <a:ln>
            <a:noFill/>
          </a:ln>
        </p:spPr>
        <p:txBody>
          <a:bodyPr wrap="square" lIns="73152" rIns="73152" tIns="54864" bIns="54864" anchor="t">
            <a:spAutoFit/>
          </a:bodyPr>
          <a:lstStyle/>
          <a:p>
            <a:pPr algn="l">
              <a:spcBef>
                <a:spcPts val="0"/>
              </a:spcBef>
              <a:spcAft>
                <a:spcPts val="0"/>
              </a:spcAft>
              <a:defRPr sz="1900" b="0">
                <a:solidFill>
                  <a:srgbClr val="191919"/>
                </a:solidFill>
                <a:latin typeface="Aptos"/>
              </a:defRPr>
            </a:pPr>
            <a:r>
              <a:t>Direction x, y, z</a:t>
            </a:r>
          </a:p>
        </p:txBody>
      </p:sp>
      <p:sp>
        <p:nvSpPr>
          <p:cNvPr id="22" name="TextBox 21"/>
          <p:cNvSpPr txBox="1"/>
          <p:nvPr/>
        </p:nvSpPr>
        <p:spPr>
          <a:xfrm>
            <a:off x="8046720" y="2313432"/>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8F160D"/>
                </a:solidFill>
                <a:latin typeface="Aptos"/>
              </a:defRPr>
            </a:pPr>
            <a:r>
              <a:t>-</a:t>
            </a:r>
          </a:p>
        </p:txBody>
      </p:sp>
      <p:sp>
        <p:nvSpPr>
          <p:cNvPr id="23" name="TextBox 22"/>
          <p:cNvSpPr txBox="1"/>
          <p:nvPr/>
        </p:nvSpPr>
        <p:spPr>
          <a:xfrm>
            <a:off x="8357616" y="2267712"/>
            <a:ext cx="3072384" cy="566928"/>
          </a:xfrm>
          <a:prstGeom prst="rect">
            <a:avLst/>
          </a:prstGeom>
          <a:noFill/>
          <a:ln>
            <a:noFill/>
          </a:ln>
        </p:spPr>
        <p:txBody>
          <a:bodyPr wrap="square" lIns="73152" rIns="73152" tIns="54864" bIns="54864" anchor="t">
            <a:spAutoFit/>
          </a:bodyPr>
          <a:lstStyle/>
          <a:p>
            <a:pPr algn="l">
              <a:spcBef>
                <a:spcPts val="0"/>
              </a:spcBef>
              <a:spcAft>
                <a:spcPts val="0"/>
              </a:spcAft>
              <a:defRPr sz="1900" b="0">
                <a:solidFill>
                  <a:srgbClr val="191919"/>
                </a:solidFill>
                <a:latin typeface="Aptos"/>
              </a:defRPr>
            </a:pPr>
            <a:r>
              <a:t>u-axis x, y, z</a:t>
            </a:r>
          </a:p>
        </p:txBody>
      </p:sp>
      <p:sp>
        <p:nvSpPr>
          <p:cNvPr id="24" name="TextBox 23"/>
          <p:cNvSpPr txBox="1"/>
          <p:nvPr/>
        </p:nvSpPr>
        <p:spPr>
          <a:xfrm>
            <a:off x="8046720" y="2880360"/>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8F160D"/>
                </a:solidFill>
                <a:latin typeface="Aptos"/>
              </a:defRPr>
            </a:pPr>
            <a:r>
              <a:t>-</a:t>
            </a:r>
          </a:p>
        </p:txBody>
      </p:sp>
      <p:sp>
        <p:nvSpPr>
          <p:cNvPr id="25" name="TextBox 24"/>
          <p:cNvSpPr txBox="1"/>
          <p:nvPr/>
        </p:nvSpPr>
        <p:spPr>
          <a:xfrm>
            <a:off x="8357616" y="2834640"/>
            <a:ext cx="3072384" cy="566928"/>
          </a:xfrm>
          <a:prstGeom prst="rect">
            <a:avLst/>
          </a:prstGeom>
          <a:noFill/>
          <a:ln>
            <a:noFill/>
          </a:ln>
        </p:spPr>
        <p:txBody>
          <a:bodyPr wrap="square" lIns="73152" rIns="73152" tIns="54864" bIns="54864" anchor="t">
            <a:spAutoFit/>
          </a:bodyPr>
          <a:lstStyle/>
          <a:p>
            <a:pPr algn="l">
              <a:spcBef>
                <a:spcPts val="0"/>
              </a:spcBef>
              <a:spcAft>
                <a:spcPts val="0"/>
              </a:spcAft>
              <a:defRPr sz="1900" b="0">
                <a:solidFill>
                  <a:srgbClr val="191919"/>
                </a:solidFill>
                <a:latin typeface="Aptos"/>
              </a:defRPr>
            </a:pPr>
            <a:r>
              <a:t>v-axis x, y, z</a:t>
            </a:r>
          </a:p>
        </p:txBody>
      </p:sp>
      <p:sp>
        <p:nvSpPr>
          <p:cNvPr id="26" name="Rectangle 25"/>
          <p:cNvSpPr/>
          <p:nvPr/>
        </p:nvSpPr>
        <p:spPr>
          <a:xfrm>
            <a:off x="777240" y="4114800"/>
            <a:ext cx="10652760" cy="1143000"/>
          </a:xfrm>
          <a:prstGeom prst="rect">
            <a:avLst/>
          </a:prstGeom>
          <a:solidFill>
            <a:srgbClr val="F5E4E0"/>
          </a:solidFill>
          <a:ln w="12700">
            <a:solidFill>
              <a:srgbClr val="8F16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992" y="4379976"/>
            <a:ext cx="10040112" cy="594360"/>
          </a:xfrm>
          <a:prstGeom prst="rect">
            <a:avLst/>
          </a:prstGeom>
          <a:noFill/>
          <a:ln>
            <a:noFill/>
          </a:ln>
        </p:spPr>
        <p:txBody>
          <a:bodyPr wrap="square" lIns="73152" rIns="73152" tIns="54864" bIns="54864" anchor="t">
            <a:spAutoFit/>
          </a:bodyPr>
          <a:lstStyle/>
          <a:p>
            <a:pPr algn="ctr">
              <a:spcBef>
                <a:spcPts val="0"/>
              </a:spcBef>
              <a:spcAft>
                <a:spcPts val="0"/>
              </a:spcAft>
              <a:defRPr sz="2200" b="1">
                <a:solidFill>
                  <a:srgbClr val="191919"/>
                </a:solidFill>
                <a:latin typeface="Aptos"/>
              </a:defRPr>
            </a:pPr>
            <a:r>
              <a:t>3 size + 3 fit-quality + 9 orientation = 15 features per analysis window or trial epoch</a:t>
            </a:r>
          </a:p>
        </p:txBody>
      </p:sp>
      <p:sp>
        <p:nvSpPr>
          <p:cNvPr id="28" name="TextBox 27"/>
          <p:cNvSpPr txBox="1"/>
          <p:nvPr/>
        </p:nvSpPr>
        <p:spPr>
          <a:xfrm>
            <a:off x="1005840" y="5596128"/>
            <a:ext cx="10195560" cy="41148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777777"/>
                </a:solidFill>
                <a:latin typeface="Aptos"/>
              </a:defRPr>
            </a:pPr>
            <a:r>
              <a:t>The decoder sees fitted parameters, not the raw point cloud.</a:t>
            </a:r>
          </a:p>
        </p:txBody>
      </p:sp>
      <p:sp>
        <p:nvSpPr>
          <p:cNvPr id="29" name="TextBox 28"/>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Feature definitions</a:t>
            </a:r>
          </a:p>
        </p:txBody>
      </p:sp>
      <p:sp>
        <p:nvSpPr>
          <p:cNvPr id="30" name="TextBox 29"/>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The reviewer-facing torus fit uses nonlinear surface optimization</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389888"/>
            <a:ext cx="2331720" cy="1143000"/>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27632"/>
            <a:ext cx="1965960" cy="59436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191919"/>
                </a:solidFill>
                <a:latin typeface="Aptos"/>
              </a:defRPr>
            </a:pPr>
            <a:r>
              <a:t>1. Delay-embed</a:t>
            </a:r>
          </a:p>
          <a:p>
            <a:pPr algn="ctr">
              <a:spcBef>
                <a:spcPts val="0"/>
              </a:spcBef>
              <a:spcAft>
                <a:spcPts val="0"/>
              </a:spcAft>
              <a:defRPr sz="1900" b="1">
                <a:solidFill>
                  <a:srgbClr val="191919"/>
                </a:solidFill>
                <a:latin typeface="Aptos"/>
              </a:defRPr>
            </a:pPr>
            <a:r>
              <a:t>the LFP epoch</a:t>
            </a:r>
          </a:p>
        </p:txBody>
      </p:sp>
      <p:sp>
        <p:nvSpPr>
          <p:cNvPr id="7" name="Rectangle 6"/>
          <p:cNvSpPr/>
          <p:nvPr/>
        </p:nvSpPr>
        <p:spPr>
          <a:xfrm>
            <a:off x="3017520" y="1938528"/>
            <a:ext cx="50292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20440" y="1389888"/>
            <a:ext cx="2331720" cy="1143000"/>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1627632"/>
            <a:ext cx="1965960" cy="59436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191919"/>
                </a:solidFill>
                <a:latin typeface="Aptos"/>
              </a:defRPr>
            </a:pPr>
            <a:r>
              <a:t>2. PCA initialize</a:t>
            </a:r>
          </a:p>
          <a:p>
            <a:pPr algn="ctr">
              <a:spcBef>
                <a:spcPts val="0"/>
              </a:spcBef>
              <a:spcAft>
                <a:spcPts val="0"/>
              </a:spcAft>
              <a:defRPr sz="1900" b="1">
                <a:solidFill>
                  <a:srgbClr val="191919"/>
                </a:solidFill>
                <a:latin typeface="Aptos"/>
              </a:defRPr>
            </a:pPr>
            <a:r>
              <a:t>center and axes</a:t>
            </a:r>
          </a:p>
        </p:txBody>
      </p:sp>
      <p:sp>
        <p:nvSpPr>
          <p:cNvPr id="10" name="Rectangle 9"/>
          <p:cNvSpPr/>
          <p:nvPr/>
        </p:nvSpPr>
        <p:spPr>
          <a:xfrm>
            <a:off x="5852160" y="1938528"/>
            <a:ext cx="50292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89888"/>
            <a:ext cx="2331720" cy="1143000"/>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627632"/>
            <a:ext cx="1965960" cy="59436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191919"/>
                </a:solidFill>
                <a:latin typeface="Aptos"/>
              </a:defRPr>
            </a:pPr>
            <a:r>
              <a:t>3. Nonlinear</a:t>
            </a:r>
          </a:p>
          <a:p>
            <a:pPr algn="ctr">
              <a:spcBef>
                <a:spcPts val="0"/>
              </a:spcBef>
              <a:spcAft>
                <a:spcPts val="0"/>
              </a:spcAft>
              <a:defRPr sz="1900" b="1">
                <a:solidFill>
                  <a:srgbClr val="191919"/>
                </a:solidFill>
                <a:latin typeface="Aptos"/>
              </a:defRPr>
            </a:pPr>
            <a:r>
              <a:t>elliptical-torus fit</a:t>
            </a:r>
          </a:p>
        </p:txBody>
      </p:sp>
      <p:sp>
        <p:nvSpPr>
          <p:cNvPr id="13" name="Rectangle 12"/>
          <p:cNvSpPr/>
          <p:nvPr/>
        </p:nvSpPr>
        <p:spPr>
          <a:xfrm>
            <a:off x="8686800" y="1938528"/>
            <a:ext cx="502920"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89720" y="1389888"/>
            <a:ext cx="2331720" cy="1143000"/>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1627632"/>
            <a:ext cx="1965960" cy="594360"/>
          </a:xfrm>
          <a:prstGeom prst="rect">
            <a:avLst/>
          </a:prstGeom>
          <a:noFill/>
          <a:ln>
            <a:noFill/>
          </a:ln>
        </p:spPr>
        <p:txBody>
          <a:bodyPr wrap="square" lIns="73152" rIns="73152" tIns="54864" bIns="54864" anchor="t">
            <a:spAutoFit/>
          </a:bodyPr>
          <a:lstStyle/>
          <a:p>
            <a:pPr algn="ctr">
              <a:spcBef>
                <a:spcPts val="0"/>
              </a:spcBef>
              <a:spcAft>
                <a:spcPts val="0"/>
              </a:spcAft>
              <a:defRPr sz="1900" b="1">
                <a:solidFill>
                  <a:srgbClr val="191919"/>
                </a:solidFill>
                <a:latin typeface="Aptos"/>
              </a:defRPr>
            </a:pPr>
            <a:r>
              <a:t>4. Export</a:t>
            </a:r>
          </a:p>
          <a:p>
            <a:pPr algn="ctr">
              <a:spcBef>
                <a:spcPts val="0"/>
              </a:spcBef>
              <a:spcAft>
                <a:spcPts val="0"/>
              </a:spcAft>
              <a:defRPr sz="1900" b="1">
                <a:solidFill>
                  <a:srgbClr val="191919"/>
                </a:solidFill>
                <a:latin typeface="Aptos"/>
              </a:defRPr>
            </a:pPr>
            <a:r>
              <a:t>15 parameters</a:t>
            </a:r>
          </a:p>
        </p:txBody>
      </p:sp>
      <p:sp>
        <p:nvSpPr>
          <p:cNvPr id="16" name="TextBox 15"/>
          <p:cNvSpPr txBox="1"/>
          <p:nvPr/>
        </p:nvSpPr>
        <p:spPr>
          <a:xfrm>
            <a:off x="822960" y="3246120"/>
            <a:ext cx="292608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OBJECTIVE</a:t>
            </a:r>
          </a:p>
        </p:txBody>
      </p:sp>
      <p:sp>
        <p:nvSpPr>
          <p:cNvPr id="17" name="TextBox 16"/>
          <p:cNvSpPr txBox="1"/>
          <p:nvPr/>
        </p:nvSpPr>
        <p:spPr>
          <a:xfrm>
            <a:off x="822960" y="3675887"/>
            <a:ext cx="2971800" cy="1005840"/>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Minimize mean squared distance from embedded points to the fitted torus surface.</a:t>
            </a:r>
          </a:p>
        </p:txBody>
      </p:sp>
      <p:sp>
        <p:nvSpPr>
          <p:cNvPr id="18" name="TextBox 17"/>
          <p:cNvSpPr txBox="1"/>
          <p:nvPr/>
        </p:nvSpPr>
        <p:spPr>
          <a:xfrm>
            <a:off x="4251960" y="3246120"/>
            <a:ext cx="292608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CONSTRAINTS</a:t>
            </a:r>
          </a:p>
        </p:txBody>
      </p:sp>
      <p:sp>
        <p:nvSpPr>
          <p:cNvPr id="19" name="TextBox 18"/>
          <p:cNvSpPr txBox="1"/>
          <p:nvPr/>
        </p:nvSpPr>
        <p:spPr>
          <a:xfrm>
            <a:off x="4251960" y="3675887"/>
            <a:ext cx="2971800" cy="1005840"/>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Positive tube radius and bounded major radius prevent degenerate fits.</a:t>
            </a:r>
          </a:p>
        </p:txBody>
      </p:sp>
      <p:sp>
        <p:nvSpPr>
          <p:cNvPr id="20" name="TextBox 19"/>
          <p:cNvSpPr txBox="1"/>
          <p:nvPr/>
        </p:nvSpPr>
        <p:spPr>
          <a:xfrm>
            <a:off x="7680960" y="3246120"/>
            <a:ext cx="292608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COMPUTE</a:t>
            </a:r>
          </a:p>
        </p:txBody>
      </p:sp>
      <p:sp>
        <p:nvSpPr>
          <p:cNvPr id="21" name="TextBox 20"/>
          <p:cNvSpPr txBox="1"/>
          <p:nvPr/>
        </p:nvSpPr>
        <p:spPr>
          <a:xfrm>
            <a:off x="7680960" y="3675887"/>
            <a:ext cx="2971800" cy="1005840"/>
          </a:xfrm>
          <a:prstGeom prst="rect">
            <a:avLst/>
          </a:prstGeom>
          <a:noFill/>
          <a:ln>
            <a:noFill/>
          </a:ln>
        </p:spPr>
        <p:txBody>
          <a:bodyPr wrap="square" lIns="73152" rIns="73152" tIns="54864" bIns="54864" anchor="t">
            <a:spAutoFit/>
          </a:bodyPr>
          <a:lstStyle/>
          <a:p>
            <a:pPr algn="l">
              <a:spcBef>
                <a:spcPts val="0"/>
              </a:spcBef>
              <a:spcAft>
                <a:spcPts val="0"/>
              </a:spcAft>
              <a:defRPr sz="2000" b="1">
                <a:solidFill>
                  <a:srgbClr val="191919"/>
                </a:solidFill>
                <a:latin typeface="Aptos"/>
              </a:defRPr>
            </a:pPr>
            <a:r>
              <a:t>Up to 1,200 objective evaluations per trial; cached after fitting.</a:t>
            </a:r>
          </a:p>
        </p:txBody>
      </p:sp>
      <p:sp>
        <p:nvSpPr>
          <p:cNvPr id="22" name="TextBox 21"/>
          <p:cNvSpPr txBox="1"/>
          <p:nvPr/>
        </p:nvSpPr>
        <p:spPr>
          <a:xfrm>
            <a:off x="960120" y="5303520"/>
            <a:ext cx="10104120" cy="548640"/>
          </a:xfrm>
          <a:prstGeom prst="rect">
            <a:avLst/>
          </a:prstGeom>
          <a:noFill/>
          <a:ln>
            <a:noFill/>
          </a:ln>
        </p:spPr>
        <p:txBody>
          <a:bodyPr wrap="square" lIns="73152" rIns="73152" tIns="54864" bIns="54864" anchor="t">
            <a:spAutoFit/>
          </a:bodyPr>
          <a:lstStyle/>
          <a:p>
            <a:pPr algn="ctr">
              <a:spcBef>
                <a:spcPts val="0"/>
              </a:spcBef>
              <a:spcAft>
                <a:spcPts val="0"/>
              </a:spcAft>
              <a:defRPr sz="2000" b="1">
                <a:solidFill>
                  <a:srgbClr val="8F160D"/>
                </a:solidFill>
                <a:latin typeface="Aptos"/>
              </a:defRPr>
            </a:pPr>
            <a:r>
              <a:t>The final macaque results use this slower nonlinear fit, not the earlier PCA/SVD screening proxy.</a:t>
            </a:r>
          </a:p>
        </p:txBody>
      </p:sp>
      <p:sp>
        <p:nvSpPr>
          <p:cNvPr id="23" name="TextBox 22"/>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Torus fitting</a:t>
            </a:r>
          </a:p>
        </p:txBody>
      </p:sp>
      <p:sp>
        <p:nvSpPr>
          <p:cNvPr id="24" name="TextBox 23"/>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Spectral baselines range from one scalar to a multiband vector</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280160"/>
            <a:ext cx="329184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SINGLE-BAND POWER</a:t>
            </a:r>
          </a:p>
        </p:txBody>
      </p:sp>
      <p:sp>
        <p:nvSpPr>
          <p:cNvPr id="6" name="TextBox 5"/>
          <p:cNvSpPr txBox="1"/>
          <p:nvPr/>
        </p:nvSpPr>
        <p:spPr>
          <a:xfrm>
            <a:off x="749808" y="1755648"/>
            <a:ext cx="3337560" cy="1060704"/>
          </a:xfrm>
          <a:prstGeom prst="rect">
            <a:avLst/>
          </a:prstGeom>
          <a:noFill/>
          <a:ln>
            <a:noFill/>
          </a:ln>
        </p:spPr>
        <p:txBody>
          <a:bodyPr wrap="square" lIns="73152" rIns="73152" tIns="54864" bIns="54864" anchor="t">
            <a:spAutoFit/>
          </a:bodyPr>
          <a:lstStyle/>
          <a:p>
            <a:pPr algn="l">
              <a:spcBef>
                <a:spcPts val="0"/>
              </a:spcBef>
              <a:spcAft>
                <a:spcPts val="0"/>
              </a:spcAft>
              <a:defRPr sz="2100" b="1">
                <a:solidFill>
                  <a:srgbClr val="191919"/>
                </a:solidFill>
                <a:latin typeface="Aptos"/>
              </a:defRPr>
            </a:pPr>
            <a:r>
              <a:t>One log-power scalar per epoch. Each band is decoded separately.</a:t>
            </a:r>
          </a:p>
        </p:txBody>
      </p:sp>
      <p:sp>
        <p:nvSpPr>
          <p:cNvPr id="7" name="TextBox 6"/>
          <p:cNvSpPr txBox="1"/>
          <p:nvPr/>
        </p:nvSpPr>
        <p:spPr>
          <a:xfrm>
            <a:off x="4434840" y="1280160"/>
            <a:ext cx="329184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AVERAGE PSD</a:t>
            </a:r>
          </a:p>
        </p:txBody>
      </p:sp>
      <p:sp>
        <p:nvSpPr>
          <p:cNvPr id="8" name="TextBox 7"/>
          <p:cNvSpPr txBox="1"/>
          <p:nvPr/>
        </p:nvSpPr>
        <p:spPr>
          <a:xfrm>
            <a:off x="4434840" y="1755648"/>
            <a:ext cx="3337560" cy="1060704"/>
          </a:xfrm>
          <a:prstGeom prst="rect">
            <a:avLst/>
          </a:prstGeom>
          <a:noFill/>
          <a:ln>
            <a:noFill/>
          </a:ln>
        </p:spPr>
        <p:txBody>
          <a:bodyPr wrap="square" lIns="73152" rIns="73152" tIns="54864" bIns="54864" anchor="t">
            <a:spAutoFit/>
          </a:bodyPr>
          <a:lstStyle/>
          <a:p>
            <a:pPr algn="l">
              <a:spcBef>
                <a:spcPts val="0"/>
              </a:spcBef>
              <a:spcAft>
                <a:spcPts val="0"/>
              </a:spcAft>
              <a:defRPr sz="2100" b="1">
                <a:solidFill>
                  <a:srgbClr val="191919"/>
                </a:solidFill>
                <a:latin typeface="Aptos"/>
              </a:defRPr>
            </a:pPr>
            <a:r>
              <a:t>Welch PSD averaged over the analysis range, then log10 transformed: one scalar.</a:t>
            </a:r>
          </a:p>
        </p:txBody>
      </p:sp>
      <p:sp>
        <p:nvSpPr>
          <p:cNvPr id="9" name="TextBox 8"/>
          <p:cNvSpPr txBox="1"/>
          <p:nvPr/>
        </p:nvSpPr>
        <p:spPr>
          <a:xfrm>
            <a:off x="8119872" y="1280160"/>
            <a:ext cx="329184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ALL-BAND POWER</a:t>
            </a:r>
          </a:p>
        </p:txBody>
      </p:sp>
      <p:sp>
        <p:nvSpPr>
          <p:cNvPr id="10" name="TextBox 9"/>
          <p:cNvSpPr txBox="1"/>
          <p:nvPr/>
        </p:nvSpPr>
        <p:spPr>
          <a:xfrm>
            <a:off x="8119872" y="1755648"/>
            <a:ext cx="3337560" cy="1060704"/>
          </a:xfrm>
          <a:prstGeom prst="rect">
            <a:avLst/>
          </a:prstGeom>
          <a:noFill/>
          <a:ln>
            <a:noFill/>
          </a:ln>
        </p:spPr>
        <p:txBody>
          <a:bodyPr wrap="square" lIns="73152" rIns="73152" tIns="54864" bIns="54864" anchor="t">
            <a:spAutoFit/>
          </a:bodyPr>
          <a:lstStyle/>
          <a:p>
            <a:pPr algn="l">
              <a:spcBef>
                <a:spcPts val="0"/>
              </a:spcBef>
              <a:spcAft>
                <a:spcPts val="0"/>
              </a:spcAft>
              <a:defRPr sz="2100" b="1">
                <a:solidFill>
                  <a:srgbClr val="191919"/>
                </a:solidFill>
                <a:latin typeface="Aptos"/>
              </a:defRPr>
            </a:pPr>
            <a:r>
              <a:t>All band-power values entered jointly as a multifeature vector; they are not averaged.</a:t>
            </a:r>
          </a:p>
        </p:txBody>
      </p:sp>
      <p:sp>
        <p:nvSpPr>
          <p:cNvPr id="11" name="Rectangle 10"/>
          <p:cNvSpPr/>
          <p:nvPr/>
        </p:nvSpPr>
        <p:spPr>
          <a:xfrm>
            <a:off x="777240" y="3364992"/>
            <a:ext cx="10607040" cy="1234440"/>
          </a:xfrm>
          <a:prstGeom prst="rect">
            <a:avLst/>
          </a:prstGeom>
          <a:solidFill>
            <a:srgbClr val="F5F3F2"/>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639312"/>
            <a:ext cx="10058400" cy="65836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191919"/>
                </a:solidFill>
                <a:latin typeface="Aptos"/>
              </a:defRPr>
            </a:pPr>
            <a:r>
              <a:t>EEG bands: delta, theta, alpha, sigma, beta, low gamma | Macaque bands: delta, theta, alpha, beta, low gamma</a:t>
            </a:r>
          </a:p>
        </p:txBody>
      </p:sp>
      <p:sp>
        <p:nvSpPr>
          <p:cNvPr id="13" name="TextBox 12"/>
          <p:cNvSpPr txBox="1"/>
          <p:nvPr/>
        </p:nvSpPr>
        <p:spPr>
          <a:xfrm>
            <a:off x="1005840" y="5084064"/>
            <a:ext cx="10195560" cy="713232"/>
          </a:xfrm>
          <a:prstGeom prst="rect">
            <a:avLst/>
          </a:prstGeom>
          <a:noFill/>
          <a:ln>
            <a:noFill/>
          </a:ln>
        </p:spPr>
        <p:txBody>
          <a:bodyPr wrap="square" lIns="73152" rIns="73152" tIns="54864" bIns="54864" anchor="t">
            <a:spAutoFit/>
          </a:bodyPr>
          <a:lstStyle/>
          <a:p>
            <a:pPr algn="ctr">
              <a:spcBef>
                <a:spcPts val="0"/>
              </a:spcBef>
              <a:spcAft>
                <a:spcPts val="0"/>
              </a:spcAft>
              <a:defRPr sz="2000" b="1">
                <a:solidFill>
                  <a:srgbClr val="8F160D"/>
                </a:solidFill>
                <a:latin typeface="Aptos"/>
              </a:defRPr>
            </a:pPr>
            <a:r>
              <a:t>Relevant band is fixed as delta for sleep and beta for motor LFP. It is not chosen by maximizing F1.</a:t>
            </a:r>
          </a:p>
        </p:txBody>
      </p:sp>
      <p:sp>
        <p:nvSpPr>
          <p:cNvPr id="14" name="TextBox 13"/>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Spectral definitions</a:t>
            </a:r>
          </a:p>
        </p:txBody>
      </p:sp>
      <p:sp>
        <p:nvSpPr>
          <p:cNvPr id="15" name="TextBox 14"/>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Cross-validation uses matched labels and independent units</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53312"/>
            <a:ext cx="3246120" cy="3584448"/>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627632"/>
            <a:ext cx="269748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MOUSE EEG</a:t>
            </a:r>
          </a:p>
        </p:txBody>
      </p:sp>
      <p:sp>
        <p:nvSpPr>
          <p:cNvPr id="7" name="TextBox 6"/>
          <p:cNvSpPr txBox="1"/>
          <p:nvPr/>
        </p:nvSpPr>
        <p:spPr>
          <a:xfrm>
            <a:off x="987552" y="2130551"/>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8" name="TextBox 7"/>
          <p:cNvSpPr txBox="1"/>
          <p:nvPr/>
        </p:nvSpPr>
        <p:spPr>
          <a:xfrm>
            <a:off x="1298448" y="2084831"/>
            <a:ext cx="23865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Balance Wake/NREM/REM within hour</a:t>
            </a:r>
          </a:p>
        </p:txBody>
      </p:sp>
      <p:sp>
        <p:nvSpPr>
          <p:cNvPr id="9" name="TextBox 8"/>
          <p:cNvSpPr txBox="1"/>
          <p:nvPr/>
        </p:nvSpPr>
        <p:spPr>
          <a:xfrm>
            <a:off x="987552" y="2606039"/>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10" name="TextBox 9"/>
          <p:cNvSpPr txBox="1"/>
          <p:nvPr/>
        </p:nvSpPr>
        <p:spPr>
          <a:xfrm>
            <a:off x="1298448" y="2560320"/>
            <a:ext cx="23865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Five stratified folds</a:t>
            </a:r>
          </a:p>
        </p:txBody>
      </p:sp>
      <p:sp>
        <p:nvSpPr>
          <p:cNvPr id="11" name="TextBox 10"/>
          <p:cNvSpPr txBox="1"/>
          <p:nvPr/>
        </p:nvSpPr>
        <p:spPr>
          <a:xfrm>
            <a:off x="987552" y="3081527"/>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12" name="TextBox 11"/>
          <p:cNvSpPr txBox="1"/>
          <p:nvPr/>
        </p:nvSpPr>
        <p:spPr>
          <a:xfrm>
            <a:off x="1298448" y="3035808"/>
            <a:ext cx="23865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21 hours summarized independently</a:t>
            </a:r>
          </a:p>
        </p:txBody>
      </p:sp>
      <p:sp>
        <p:nvSpPr>
          <p:cNvPr id="13" name="Rectangle 12"/>
          <p:cNvSpPr/>
          <p:nvPr/>
        </p:nvSpPr>
        <p:spPr>
          <a:xfrm>
            <a:off x="4462272" y="1353312"/>
            <a:ext cx="3246120" cy="3584448"/>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18304" y="1627632"/>
            <a:ext cx="269748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MACAQUE LFP</a:t>
            </a:r>
          </a:p>
        </p:txBody>
      </p:sp>
      <p:sp>
        <p:nvSpPr>
          <p:cNvPr id="15" name="TextBox 14"/>
          <p:cNvSpPr txBox="1"/>
          <p:nvPr/>
        </p:nvSpPr>
        <p:spPr>
          <a:xfrm>
            <a:off x="4718304" y="2130551"/>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16" name="TextBox 15"/>
          <p:cNvSpPr txBox="1"/>
          <p:nvPr/>
        </p:nvSpPr>
        <p:spPr>
          <a:xfrm>
            <a:off x="5029200" y="2084831"/>
            <a:ext cx="23865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Balance six direction labels within LFP</a:t>
            </a:r>
          </a:p>
        </p:txBody>
      </p:sp>
      <p:sp>
        <p:nvSpPr>
          <p:cNvPr id="17" name="TextBox 16"/>
          <p:cNvSpPr txBox="1"/>
          <p:nvPr/>
        </p:nvSpPr>
        <p:spPr>
          <a:xfrm>
            <a:off x="4718304" y="2606039"/>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18" name="TextBox 17"/>
          <p:cNvSpPr txBox="1"/>
          <p:nvPr/>
        </p:nvSpPr>
        <p:spPr>
          <a:xfrm>
            <a:off x="5029200" y="2560320"/>
            <a:ext cx="23865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Five stratified folds</a:t>
            </a:r>
          </a:p>
        </p:txBody>
      </p:sp>
      <p:sp>
        <p:nvSpPr>
          <p:cNvPr id="19" name="TextBox 18"/>
          <p:cNvSpPr txBox="1"/>
          <p:nvPr/>
        </p:nvSpPr>
        <p:spPr>
          <a:xfrm>
            <a:off x="4718304" y="3081527"/>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20" name="TextBox 19"/>
          <p:cNvSpPr txBox="1"/>
          <p:nvPr/>
        </p:nvSpPr>
        <p:spPr>
          <a:xfrm>
            <a:off x="5029200" y="3035808"/>
            <a:ext cx="23865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237 LFPs summarized independently</a:t>
            </a:r>
          </a:p>
        </p:txBody>
      </p:sp>
      <p:sp>
        <p:nvSpPr>
          <p:cNvPr id="21" name="Rectangle 20"/>
          <p:cNvSpPr/>
          <p:nvPr/>
        </p:nvSpPr>
        <p:spPr>
          <a:xfrm>
            <a:off x="8193024" y="1353312"/>
            <a:ext cx="3246120" cy="3584448"/>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49056" y="1627632"/>
            <a:ext cx="2697480" cy="320040"/>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8F160D"/>
                </a:solidFill>
                <a:latin typeface="Aptos"/>
              </a:defRPr>
            </a:pPr>
            <a:r>
              <a:t>COMPARISON</a:t>
            </a:r>
          </a:p>
        </p:txBody>
      </p:sp>
      <p:sp>
        <p:nvSpPr>
          <p:cNvPr id="23" name="TextBox 22"/>
          <p:cNvSpPr txBox="1"/>
          <p:nvPr/>
        </p:nvSpPr>
        <p:spPr>
          <a:xfrm>
            <a:off x="8449056" y="2130551"/>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24" name="TextBox 23"/>
          <p:cNvSpPr txBox="1"/>
          <p:nvPr/>
        </p:nvSpPr>
        <p:spPr>
          <a:xfrm>
            <a:off x="8759952" y="2084831"/>
            <a:ext cx="23865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Same folds for matched features</a:t>
            </a:r>
          </a:p>
        </p:txBody>
      </p:sp>
      <p:sp>
        <p:nvSpPr>
          <p:cNvPr id="25" name="TextBox 24"/>
          <p:cNvSpPr txBox="1"/>
          <p:nvPr/>
        </p:nvSpPr>
        <p:spPr>
          <a:xfrm>
            <a:off x="8449056" y="2606039"/>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26" name="TextBox 25"/>
          <p:cNvSpPr txBox="1"/>
          <p:nvPr/>
        </p:nvSpPr>
        <p:spPr>
          <a:xfrm>
            <a:off x="8759952" y="2560320"/>
            <a:ext cx="23865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Macro F1 from out-of-fold predictions</a:t>
            </a:r>
          </a:p>
        </p:txBody>
      </p:sp>
      <p:sp>
        <p:nvSpPr>
          <p:cNvPr id="27" name="TextBox 26"/>
          <p:cNvSpPr txBox="1"/>
          <p:nvPr/>
        </p:nvSpPr>
        <p:spPr>
          <a:xfrm>
            <a:off x="8449056" y="3081527"/>
            <a:ext cx="256032" cy="274320"/>
          </a:xfrm>
          <a:prstGeom prst="rect">
            <a:avLst/>
          </a:prstGeom>
          <a:noFill/>
          <a:ln>
            <a:noFill/>
          </a:ln>
        </p:spPr>
        <p:txBody>
          <a:bodyPr wrap="square" lIns="73152" rIns="73152" tIns="54864" bIns="54864" anchor="t">
            <a:spAutoFit/>
          </a:bodyPr>
          <a:lstStyle/>
          <a:p>
            <a:pPr algn="ctr">
              <a:spcBef>
                <a:spcPts val="0"/>
              </a:spcBef>
              <a:spcAft>
                <a:spcPts val="0"/>
              </a:spcAft>
              <a:defRPr sz="1700" b="1">
                <a:solidFill>
                  <a:srgbClr val="8F160D"/>
                </a:solidFill>
                <a:latin typeface="Aptos"/>
              </a:defRPr>
            </a:pPr>
            <a:r>
              <a:t>-</a:t>
            </a:r>
          </a:p>
        </p:txBody>
      </p:sp>
      <p:sp>
        <p:nvSpPr>
          <p:cNvPr id="28" name="TextBox 27"/>
          <p:cNvSpPr txBox="1"/>
          <p:nvPr/>
        </p:nvSpPr>
        <p:spPr>
          <a:xfrm>
            <a:off x="8759952" y="3035808"/>
            <a:ext cx="2386584" cy="475488"/>
          </a:xfrm>
          <a:prstGeom prst="rect">
            <a:avLst/>
          </a:prstGeom>
          <a:noFill/>
          <a:ln>
            <a:noFill/>
          </a:ln>
        </p:spPr>
        <p:txBody>
          <a:bodyPr wrap="square" lIns="73152" rIns="73152" tIns="54864" bIns="54864" anchor="t">
            <a:spAutoFit/>
          </a:bodyPr>
          <a:lstStyle/>
          <a:p>
            <a:pPr algn="l">
              <a:spcBef>
                <a:spcPts val="0"/>
              </a:spcBef>
              <a:spcAft>
                <a:spcPts val="0"/>
              </a:spcAft>
              <a:defRPr sz="1700" b="0">
                <a:solidFill>
                  <a:srgbClr val="191919"/>
                </a:solidFill>
                <a:latin typeface="Aptos"/>
              </a:defRPr>
            </a:pPr>
            <a:r>
              <a:t>Paired Wilcoxon + Holm correction</a:t>
            </a:r>
          </a:p>
        </p:txBody>
      </p:sp>
      <p:sp>
        <p:nvSpPr>
          <p:cNvPr id="29" name="TextBox 28"/>
          <p:cNvSpPr txBox="1"/>
          <p:nvPr/>
        </p:nvSpPr>
        <p:spPr>
          <a:xfrm>
            <a:off x="960120" y="5321808"/>
            <a:ext cx="10195560" cy="548640"/>
          </a:xfrm>
          <a:prstGeom prst="rect">
            <a:avLst/>
          </a:prstGeom>
          <a:noFill/>
          <a:ln>
            <a:noFill/>
          </a:ln>
        </p:spPr>
        <p:txBody>
          <a:bodyPr wrap="square" lIns="73152" rIns="73152" tIns="54864" bIns="54864" anchor="t">
            <a:spAutoFit/>
          </a:bodyPr>
          <a:lstStyle/>
          <a:p>
            <a:pPr algn="ctr">
              <a:spcBef>
                <a:spcPts val="0"/>
              </a:spcBef>
              <a:spcAft>
                <a:spcPts val="0"/>
              </a:spcAft>
              <a:defRPr sz="2000" b="1">
                <a:solidFill>
                  <a:srgbClr val="8F160D"/>
                </a:solidFill>
                <a:latin typeface="Aptos"/>
              </a:defRPr>
            </a:pPr>
            <a:r>
              <a:t>No session or LFP is duplicated as an independent observation in the reported summary statistics.</a:t>
            </a:r>
          </a:p>
        </p:txBody>
      </p:sp>
      <p:sp>
        <p:nvSpPr>
          <p:cNvPr id="30" name="TextBox 29"/>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Decoding protocol</a:t>
            </a:r>
          </a:p>
        </p:txBody>
      </p:sp>
      <p:sp>
        <p:nvSpPr>
          <p:cNvPr id="31" name="TextBox 30"/>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Full EEG heatmap: 21 valid recording hours</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ssion_f1_heatmap.png"/>
          <p:cNvPicPr>
            <a:picLocks noChangeAspect="1"/>
          </p:cNvPicPr>
          <p:nvPr/>
        </p:nvPicPr>
        <p:blipFill>
          <a:blip r:embed="rId2"/>
          <a:stretch>
            <a:fillRect/>
          </a:stretch>
        </p:blipFill>
        <p:spPr>
          <a:xfrm>
            <a:off x="3201835" y="1170432"/>
            <a:ext cx="5757849" cy="5440680"/>
          </a:xfrm>
          <a:prstGeom prst="rect">
            <a:avLst/>
          </a:prstGeom>
        </p:spPr>
      </p:pic>
      <p:sp>
        <p:nvSpPr>
          <p:cNvPr id="6" name="TextBox 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EEG detail</a:t>
            </a:r>
          </a:p>
        </p:txBody>
      </p:sp>
      <p:sp>
        <p:nvSpPr>
          <p:cNvPr id="7" name="TextBox 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Macaque confusion matrices show structured direction signals</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rection_movement_torus_nonlinear_mean_confusion_pertrace_tau_dim.png"/>
          <p:cNvPicPr>
            <a:picLocks noChangeAspect="1"/>
          </p:cNvPicPr>
          <p:nvPr/>
        </p:nvPicPr>
        <p:blipFill>
          <a:blip r:embed="rId2"/>
          <a:stretch>
            <a:fillRect/>
          </a:stretch>
        </p:blipFill>
        <p:spPr>
          <a:xfrm>
            <a:off x="669037" y="1298448"/>
            <a:ext cx="5291325" cy="4709160"/>
          </a:xfrm>
          <a:prstGeom prst="rect">
            <a:avLst/>
          </a:prstGeom>
        </p:spPr>
      </p:pic>
      <p:pic>
        <p:nvPicPr>
          <p:cNvPr id="6" name="Picture 5" descr="direction_movement_beta_mean_confusion_pertrace_tau_dim.png"/>
          <p:cNvPicPr>
            <a:picLocks noChangeAspect="1"/>
          </p:cNvPicPr>
          <p:nvPr/>
        </p:nvPicPr>
        <p:blipFill>
          <a:blip r:embed="rId3"/>
          <a:stretch>
            <a:fillRect/>
          </a:stretch>
        </p:blipFill>
        <p:spPr>
          <a:xfrm>
            <a:off x="6228589" y="1298448"/>
            <a:ext cx="5291325" cy="4709160"/>
          </a:xfrm>
          <a:prstGeom prst="rect">
            <a:avLst/>
          </a:prstGeom>
        </p:spPr>
      </p:pic>
      <p:sp>
        <p:nvSpPr>
          <p:cNvPr id="7" name="TextBox 6"/>
          <p:cNvSpPr txBox="1"/>
          <p:nvPr/>
        </p:nvSpPr>
        <p:spPr>
          <a:xfrm>
            <a:off x="1097280" y="5989320"/>
            <a:ext cx="4480560" cy="320040"/>
          </a:xfrm>
          <a:prstGeom prst="rect">
            <a:avLst/>
          </a:prstGeom>
          <a:noFill/>
          <a:ln>
            <a:noFill/>
          </a:ln>
        </p:spPr>
        <p:txBody>
          <a:bodyPr wrap="square" lIns="73152" rIns="73152" tIns="54864" bIns="54864" anchor="t">
            <a:spAutoFit/>
          </a:bodyPr>
          <a:lstStyle/>
          <a:p>
            <a:pPr algn="ctr">
              <a:spcBef>
                <a:spcPts val="0"/>
              </a:spcBef>
              <a:spcAft>
                <a:spcPts val="0"/>
              </a:spcAft>
              <a:defRPr sz="1600" b="1">
                <a:solidFill>
                  <a:srgbClr val="8F160D"/>
                </a:solidFill>
                <a:latin typeface="Aptos"/>
              </a:defRPr>
            </a:pPr>
            <a:r>
              <a:t>Torus features</a:t>
            </a:r>
          </a:p>
        </p:txBody>
      </p:sp>
      <p:sp>
        <p:nvSpPr>
          <p:cNvPr id="8" name="TextBox 7"/>
          <p:cNvSpPr txBox="1"/>
          <p:nvPr/>
        </p:nvSpPr>
        <p:spPr>
          <a:xfrm>
            <a:off x="6656832" y="5989320"/>
            <a:ext cx="4480560" cy="320040"/>
          </a:xfrm>
          <a:prstGeom prst="rect">
            <a:avLst/>
          </a:prstGeom>
          <a:noFill/>
          <a:ln>
            <a:noFill/>
          </a:ln>
        </p:spPr>
        <p:txBody>
          <a:bodyPr wrap="square" lIns="73152" rIns="73152" tIns="54864" bIns="54864" anchor="t">
            <a:spAutoFit/>
          </a:bodyPr>
          <a:lstStyle/>
          <a:p>
            <a:pPr algn="ctr">
              <a:spcBef>
                <a:spcPts val="0"/>
              </a:spcBef>
              <a:spcAft>
                <a:spcPts val="0"/>
              </a:spcAft>
              <a:defRPr sz="1600" b="1">
                <a:solidFill>
                  <a:srgbClr val="C94C28"/>
                </a:solidFill>
                <a:latin typeface="Aptos"/>
              </a:defRPr>
            </a:pPr>
            <a:r>
              <a:t>Relevant band: beta</a:t>
            </a:r>
          </a:p>
        </p:txBody>
      </p:sp>
      <p:sp>
        <p:nvSpPr>
          <p:cNvPr id="9" name="TextBox 8"/>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Macaque detail</a:t>
            </a:r>
          </a:p>
        </p:txBody>
      </p:sp>
      <p:sp>
        <p:nvSpPr>
          <p:cNvPr id="10" name="TextBox 9"/>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Additive tests isolate complementary geometric information</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353312"/>
            <a:ext cx="10835640" cy="566928"/>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81328"/>
            <a:ext cx="4206240" cy="274320"/>
          </a:xfrm>
          <a:prstGeom prst="rect">
            <a:avLst/>
          </a:prstGeom>
          <a:noFill/>
          <a:ln>
            <a:noFill/>
          </a:ln>
        </p:spPr>
        <p:txBody>
          <a:bodyPr wrap="square" lIns="73152" rIns="73152" tIns="54864" bIns="54864" anchor="t">
            <a:spAutoFit/>
          </a:bodyPr>
          <a:lstStyle/>
          <a:p>
            <a:pPr algn="l">
              <a:spcBef>
                <a:spcPts val="0"/>
              </a:spcBef>
              <a:spcAft>
                <a:spcPts val="0"/>
              </a:spcAft>
              <a:defRPr sz="1300" b="1">
                <a:solidFill>
                  <a:srgbClr val="FFFFFF"/>
                </a:solidFill>
                <a:latin typeface="Aptos"/>
              </a:defRPr>
            </a:pPr>
            <a:r>
              <a:t>PAIRED COMPARISON</a:t>
            </a:r>
          </a:p>
        </p:txBody>
      </p:sp>
      <p:sp>
        <p:nvSpPr>
          <p:cNvPr id="7" name="TextBox 6"/>
          <p:cNvSpPr txBox="1"/>
          <p:nvPr/>
        </p:nvSpPr>
        <p:spPr>
          <a:xfrm>
            <a:off x="5486400" y="1481328"/>
            <a:ext cx="1965960" cy="274320"/>
          </a:xfrm>
          <a:prstGeom prst="rect">
            <a:avLst/>
          </a:prstGeom>
          <a:noFill/>
          <a:ln>
            <a:noFill/>
          </a:ln>
        </p:spPr>
        <p:txBody>
          <a:bodyPr wrap="square" lIns="73152" rIns="73152" tIns="54864" bIns="54864" anchor="t">
            <a:spAutoFit/>
          </a:bodyPr>
          <a:lstStyle/>
          <a:p>
            <a:pPr algn="ctr">
              <a:spcBef>
                <a:spcPts val="0"/>
              </a:spcBef>
              <a:spcAft>
                <a:spcPts val="0"/>
              </a:spcAft>
              <a:defRPr sz="1300" b="1">
                <a:solidFill>
                  <a:srgbClr val="FFFFFF"/>
                </a:solidFill>
                <a:latin typeface="Aptos"/>
              </a:defRPr>
            </a:pPr>
            <a:r>
              <a:t>DELTA F1</a:t>
            </a:r>
          </a:p>
        </p:txBody>
      </p:sp>
      <p:sp>
        <p:nvSpPr>
          <p:cNvPr id="8" name="TextBox 7"/>
          <p:cNvSpPr txBox="1"/>
          <p:nvPr/>
        </p:nvSpPr>
        <p:spPr>
          <a:xfrm>
            <a:off x="7726679" y="1481328"/>
            <a:ext cx="1965960" cy="274320"/>
          </a:xfrm>
          <a:prstGeom prst="rect">
            <a:avLst/>
          </a:prstGeom>
          <a:noFill/>
          <a:ln>
            <a:noFill/>
          </a:ln>
        </p:spPr>
        <p:txBody>
          <a:bodyPr wrap="square" lIns="73152" rIns="73152" tIns="54864" bIns="54864" anchor="t">
            <a:spAutoFit/>
          </a:bodyPr>
          <a:lstStyle/>
          <a:p>
            <a:pPr algn="ctr">
              <a:spcBef>
                <a:spcPts val="0"/>
              </a:spcBef>
              <a:spcAft>
                <a:spcPts val="0"/>
              </a:spcAft>
              <a:defRPr sz="1300" b="1">
                <a:solidFill>
                  <a:srgbClr val="FFFFFF"/>
                </a:solidFill>
                <a:latin typeface="Aptos"/>
              </a:defRPr>
            </a:pPr>
            <a:r>
              <a:t>HOLM p</a:t>
            </a:r>
          </a:p>
        </p:txBody>
      </p:sp>
      <p:sp>
        <p:nvSpPr>
          <p:cNvPr id="9" name="TextBox 8"/>
          <p:cNvSpPr txBox="1"/>
          <p:nvPr/>
        </p:nvSpPr>
        <p:spPr>
          <a:xfrm>
            <a:off x="9875520" y="1481328"/>
            <a:ext cx="1234440" cy="274320"/>
          </a:xfrm>
          <a:prstGeom prst="rect">
            <a:avLst/>
          </a:prstGeom>
          <a:noFill/>
          <a:ln>
            <a:noFill/>
          </a:ln>
        </p:spPr>
        <p:txBody>
          <a:bodyPr wrap="square" lIns="73152" rIns="73152" tIns="54864" bIns="54864" anchor="t">
            <a:spAutoFit/>
          </a:bodyPr>
          <a:lstStyle/>
          <a:p>
            <a:pPr algn="ctr">
              <a:spcBef>
                <a:spcPts val="0"/>
              </a:spcBef>
              <a:spcAft>
                <a:spcPts val="0"/>
              </a:spcAft>
              <a:defRPr sz="1300" b="1">
                <a:solidFill>
                  <a:srgbClr val="FFFFFF"/>
                </a:solidFill>
                <a:latin typeface="Aptos"/>
              </a:defRPr>
            </a:pPr>
            <a:r>
              <a:t>CALL</a:t>
            </a:r>
          </a:p>
        </p:txBody>
      </p:sp>
      <p:sp>
        <p:nvSpPr>
          <p:cNvPr id="10" name="Rectangle 9"/>
          <p:cNvSpPr/>
          <p:nvPr/>
        </p:nvSpPr>
        <p:spPr>
          <a:xfrm>
            <a:off x="685800" y="1938528"/>
            <a:ext cx="10835640" cy="841248"/>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39696"/>
            <a:ext cx="4315968" cy="384048"/>
          </a:xfrm>
          <a:prstGeom prst="rect">
            <a:avLst/>
          </a:prstGeom>
          <a:noFill/>
          <a:ln>
            <a:noFill/>
          </a:ln>
        </p:spPr>
        <p:txBody>
          <a:bodyPr wrap="square" lIns="73152" rIns="73152" tIns="54864" bIns="54864" anchor="t">
            <a:spAutoFit/>
          </a:bodyPr>
          <a:lstStyle/>
          <a:p>
            <a:pPr algn="l">
              <a:spcBef>
                <a:spcPts val="0"/>
              </a:spcBef>
              <a:spcAft>
                <a:spcPts val="0"/>
              </a:spcAft>
              <a:defRPr sz="1700" b="1">
                <a:solidFill>
                  <a:srgbClr val="191919"/>
                </a:solidFill>
                <a:latin typeface="Aptos"/>
              </a:defRPr>
            </a:pPr>
            <a:r>
              <a:t>Torus + Relevant band vs Relevant band</a:t>
            </a:r>
          </a:p>
        </p:txBody>
      </p:sp>
      <p:sp>
        <p:nvSpPr>
          <p:cNvPr id="12" name="TextBox 11"/>
          <p:cNvSpPr txBox="1"/>
          <p:nvPr/>
        </p:nvSpPr>
        <p:spPr>
          <a:xfrm>
            <a:off x="5486400" y="2139696"/>
            <a:ext cx="1965960" cy="38404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191919"/>
                </a:solidFill>
                <a:latin typeface="Aptos"/>
              </a:defRPr>
            </a:pPr>
            <a:r>
              <a:t>+0.029</a:t>
            </a:r>
          </a:p>
        </p:txBody>
      </p:sp>
      <p:sp>
        <p:nvSpPr>
          <p:cNvPr id="13" name="TextBox 12"/>
          <p:cNvSpPr txBox="1"/>
          <p:nvPr/>
        </p:nvSpPr>
        <p:spPr>
          <a:xfrm>
            <a:off x="7589520" y="2139696"/>
            <a:ext cx="2240280" cy="384048"/>
          </a:xfrm>
          <a:prstGeom prst="rect">
            <a:avLst/>
          </a:prstGeom>
          <a:noFill/>
          <a:ln>
            <a:noFill/>
          </a:ln>
        </p:spPr>
        <p:txBody>
          <a:bodyPr wrap="square" lIns="73152" rIns="73152" tIns="54864" bIns="54864" anchor="t">
            <a:spAutoFit/>
          </a:bodyPr>
          <a:lstStyle/>
          <a:p>
            <a:pPr algn="ctr">
              <a:spcBef>
                <a:spcPts val="0"/>
              </a:spcBef>
              <a:spcAft>
                <a:spcPts val="0"/>
              </a:spcAft>
              <a:defRPr sz="1600" b="1">
                <a:solidFill>
                  <a:srgbClr val="191919"/>
                </a:solidFill>
                <a:latin typeface="Aptos"/>
              </a:defRPr>
            </a:pPr>
            <a:r>
              <a:t>1.12 x 10^-20</a:t>
            </a:r>
          </a:p>
        </p:txBody>
      </p:sp>
      <p:sp>
        <p:nvSpPr>
          <p:cNvPr id="14" name="TextBox 13"/>
          <p:cNvSpPr txBox="1"/>
          <p:nvPr/>
        </p:nvSpPr>
        <p:spPr>
          <a:xfrm>
            <a:off x="9966960" y="2139696"/>
            <a:ext cx="1051560" cy="38404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a:t>
            </a:r>
          </a:p>
        </p:txBody>
      </p:sp>
      <p:sp>
        <p:nvSpPr>
          <p:cNvPr id="15" name="Rectangle 14"/>
          <p:cNvSpPr/>
          <p:nvPr/>
        </p:nvSpPr>
        <p:spPr>
          <a:xfrm>
            <a:off x="685800" y="2871216"/>
            <a:ext cx="10835640" cy="841248"/>
          </a:xfrm>
          <a:prstGeom prst="rect">
            <a:avLst/>
          </a:prstGeom>
          <a:solidFill>
            <a:srgbClr val="F5F3F2"/>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072384"/>
            <a:ext cx="4315968" cy="384048"/>
          </a:xfrm>
          <a:prstGeom prst="rect">
            <a:avLst/>
          </a:prstGeom>
          <a:noFill/>
          <a:ln>
            <a:noFill/>
          </a:ln>
        </p:spPr>
        <p:txBody>
          <a:bodyPr wrap="square" lIns="73152" rIns="73152" tIns="54864" bIns="54864" anchor="t">
            <a:spAutoFit/>
          </a:bodyPr>
          <a:lstStyle/>
          <a:p>
            <a:pPr algn="l">
              <a:spcBef>
                <a:spcPts val="0"/>
              </a:spcBef>
              <a:spcAft>
                <a:spcPts val="0"/>
              </a:spcAft>
              <a:defRPr sz="1700" b="1">
                <a:solidFill>
                  <a:srgbClr val="191919"/>
                </a:solidFill>
                <a:latin typeface="Aptos"/>
              </a:defRPr>
            </a:pPr>
            <a:r>
              <a:t>Torus + Average PSD vs Average PSD</a:t>
            </a:r>
          </a:p>
        </p:txBody>
      </p:sp>
      <p:sp>
        <p:nvSpPr>
          <p:cNvPr id="17" name="TextBox 16"/>
          <p:cNvSpPr txBox="1"/>
          <p:nvPr/>
        </p:nvSpPr>
        <p:spPr>
          <a:xfrm>
            <a:off x="5486400" y="3072384"/>
            <a:ext cx="1965960" cy="38404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191919"/>
                </a:solidFill>
                <a:latin typeface="Aptos"/>
              </a:defRPr>
            </a:pPr>
            <a:r>
              <a:t>+0.030</a:t>
            </a:r>
          </a:p>
        </p:txBody>
      </p:sp>
      <p:sp>
        <p:nvSpPr>
          <p:cNvPr id="18" name="TextBox 17"/>
          <p:cNvSpPr txBox="1"/>
          <p:nvPr/>
        </p:nvSpPr>
        <p:spPr>
          <a:xfrm>
            <a:off x="7589520" y="3072384"/>
            <a:ext cx="2240280" cy="384048"/>
          </a:xfrm>
          <a:prstGeom prst="rect">
            <a:avLst/>
          </a:prstGeom>
          <a:noFill/>
          <a:ln>
            <a:noFill/>
          </a:ln>
        </p:spPr>
        <p:txBody>
          <a:bodyPr wrap="square" lIns="73152" rIns="73152" tIns="54864" bIns="54864" anchor="t">
            <a:spAutoFit/>
          </a:bodyPr>
          <a:lstStyle/>
          <a:p>
            <a:pPr algn="ctr">
              <a:spcBef>
                <a:spcPts val="0"/>
              </a:spcBef>
              <a:spcAft>
                <a:spcPts val="0"/>
              </a:spcAft>
              <a:defRPr sz="1600" b="1">
                <a:solidFill>
                  <a:srgbClr val="191919"/>
                </a:solidFill>
                <a:latin typeface="Aptos"/>
              </a:defRPr>
            </a:pPr>
            <a:r>
              <a:t>7.68 x 10^-22</a:t>
            </a:r>
          </a:p>
        </p:txBody>
      </p:sp>
      <p:sp>
        <p:nvSpPr>
          <p:cNvPr id="19" name="TextBox 18"/>
          <p:cNvSpPr txBox="1"/>
          <p:nvPr/>
        </p:nvSpPr>
        <p:spPr>
          <a:xfrm>
            <a:off x="9966960" y="3072384"/>
            <a:ext cx="1051560" cy="38404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a:t>
            </a:r>
          </a:p>
        </p:txBody>
      </p:sp>
      <p:sp>
        <p:nvSpPr>
          <p:cNvPr id="20" name="Rectangle 19"/>
          <p:cNvSpPr/>
          <p:nvPr/>
        </p:nvSpPr>
        <p:spPr>
          <a:xfrm>
            <a:off x="685800" y="3803904"/>
            <a:ext cx="10835640" cy="841248"/>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005072"/>
            <a:ext cx="4315968" cy="384048"/>
          </a:xfrm>
          <a:prstGeom prst="rect">
            <a:avLst/>
          </a:prstGeom>
          <a:noFill/>
          <a:ln>
            <a:noFill/>
          </a:ln>
        </p:spPr>
        <p:txBody>
          <a:bodyPr wrap="square" lIns="73152" rIns="73152" tIns="54864" bIns="54864" anchor="t">
            <a:spAutoFit/>
          </a:bodyPr>
          <a:lstStyle/>
          <a:p>
            <a:pPr algn="l">
              <a:spcBef>
                <a:spcPts val="0"/>
              </a:spcBef>
              <a:spcAft>
                <a:spcPts val="0"/>
              </a:spcAft>
              <a:defRPr sz="1700" b="1">
                <a:solidFill>
                  <a:srgbClr val="191919"/>
                </a:solidFill>
                <a:latin typeface="Aptos"/>
              </a:defRPr>
            </a:pPr>
            <a:r>
              <a:t>Torus + All-band power vs All-band power</a:t>
            </a:r>
          </a:p>
        </p:txBody>
      </p:sp>
      <p:sp>
        <p:nvSpPr>
          <p:cNvPr id="22" name="TextBox 21"/>
          <p:cNvSpPr txBox="1"/>
          <p:nvPr/>
        </p:nvSpPr>
        <p:spPr>
          <a:xfrm>
            <a:off x="5486400" y="4005072"/>
            <a:ext cx="1965960" cy="38404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191919"/>
                </a:solidFill>
                <a:latin typeface="Aptos"/>
              </a:defRPr>
            </a:pPr>
            <a:r>
              <a:t>-0.002</a:t>
            </a:r>
          </a:p>
        </p:txBody>
      </p:sp>
      <p:sp>
        <p:nvSpPr>
          <p:cNvPr id="23" name="TextBox 22"/>
          <p:cNvSpPr txBox="1"/>
          <p:nvPr/>
        </p:nvSpPr>
        <p:spPr>
          <a:xfrm>
            <a:off x="7589520" y="4005072"/>
            <a:ext cx="2240280" cy="384048"/>
          </a:xfrm>
          <a:prstGeom prst="rect">
            <a:avLst/>
          </a:prstGeom>
          <a:noFill/>
          <a:ln>
            <a:noFill/>
          </a:ln>
        </p:spPr>
        <p:txBody>
          <a:bodyPr wrap="square" lIns="73152" rIns="73152" tIns="54864" bIns="54864" anchor="t">
            <a:spAutoFit/>
          </a:bodyPr>
          <a:lstStyle/>
          <a:p>
            <a:pPr algn="ctr">
              <a:spcBef>
                <a:spcPts val="0"/>
              </a:spcBef>
              <a:spcAft>
                <a:spcPts val="0"/>
              </a:spcAft>
              <a:defRPr sz="1600" b="1">
                <a:solidFill>
                  <a:srgbClr val="191919"/>
                </a:solidFill>
                <a:latin typeface="Aptos"/>
              </a:defRPr>
            </a:pPr>
            <a:r>
              <a:t>0.372</a:t>
            </a:r>
          </a:p>
        </p:txBody>
      </p:sp>
      <p:sp>
        <p:nvSpPr>
          <p:cNvPr id="24" name="TextBox 23"/>
          <p:cNvSpPr txBox="1"/>
          <p:nvPr/>
        </p:nvSpPr>
        <p:spPr>
          <a:xfrm>
            <a:off x="9966960" y="4005072"/>
            <a:ext cx="1051560" cy="38404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8F160D"/>
                </a:solidFill>
                <a:latin typeface="Aptos"/>
              </a:defRPr>
            </a:pPr>
            <a:r>
              <a:t>ns</a:t>
            </a:r>
          </a:p>
        </p:txBody>
      </p:sp>
      <p:sp>
        <p:nvSpPr>
          <p:cNvPr id="25" name="TextBox 24"/>
          <p:cNvSpPr txBox="1"/>
          <p:nvPr/>
        </p:nvSpPr>
        <p:spPr>
          <a:xfrm>
            <a:off x="914400" y="5230368"/>
            <a:ext cx="10287000" cy="658368"/>
          </a:xfrm>
          <a:prstGeom prst="rect">
            <a:avLst/>
          </a:prstGeom>
          <a:noFill/>
          <a:ln>
            <a:noFill/>
          </a:ln>
        </p:spPr>
        <p:txBody>
          <a:bodyPr wrap="square" lIns="73152" rIns="73152" tIns="54864" bIns="54864" anchor="t">
            <a:spAutoFit/>
          </a:bodyPr>
          <a:lstStyle/>
          <a:p>
            <a:pPr algn="ctr">
              <a:spcBef>
                <a:spcPts val="0"/>
              </a:spcBef>
              <a:spcAft>
                <a:spcPts val="0"/>
              </a:spcAft>
              <a:defRPr sz="2100" b="1">
                <a:solidFill>
                  <a:srgbClr val="8F160D"/>
                </a:solidFill>
                <a:latin typeface="Aptos"/>
              </a:defRPr>
            </a:pPr>
            <a:r>
              <a:t>The additive result is specific: geometry supplements compact baselines but does not improve the complete multiband vector.</a:t>
            </a:r>
          </a:p>
        </p:txBody>
      </p:sp>
      <p:sp>
        <p:nvSpPr>
          <p:cNvPr id="26" name="TextBox 2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Additive statistics</a:t>
            </a:r>
          </a:p>
        </p:txBody>
      </p:sp>
      <p:sp>
        <p:nvSpPr>
          <p:cNvPr id="27" name="TextBox 2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Per-trace lag selection yields heterogeneous dimensions</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fp_embedding_parameter_summary_pertrace_tau_dim.png"/>
          <p:cNvPicPr>
            <a:picLocks noChangeAspect="1"/>
          </p:cNvPicPr>
          <p:nvPr/>
        </p:nvPicPr>
        <p:blipFill>
          <a:blip r:embed="rId2"/>
          <a:stretch>
            <a:fillRect/>
          </a:stretch>
        </p:blipFill>
        <p:spPr>
          <a:xfrm>
            <a:off x="594359" y="1323861"/>
            <a:ext cx="6903720" cy="4896076"/>
          </a:xfrm>
          <a:prstGeom prst="rect">
            <a:avLst/>
          </a:prstGeom>
        </p:spPr>
      </p:pic>
      <p:sp>
        <p:nvSpPr>
          <p:cNvPr id="6" name="Rectangle 5"/>
          <p:cNvSpPr/>
          <p:nvPr/>
        </p:nvSpPr>
        <p:spPr>
          <a:xfrm>
            <a:off x="7882127" y="1444752"/>
            <a:ext cx="310896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82127" y="1444752"/>
            <a:ext cx="82296" cy="1078992"/>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581912"/>
            <a:ext cx="278892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MEDIAN TAU</a:t>
            </a:r>
          </a:p>
        </p:txBody>
      </p:sp>
      <p:sp>
        <p:nvSpPr>
          <p:cNvPr id="9" name="TextBox 8"/>
          <p:cNvSpPr txBox="1"/>
          <p:nvPr/>
        </p:nvSpPr>
        <p:spPr>
          <a:xfrm>
            <a:off x="8092440" y="1874519"/>
            <a:ext cx="278892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17 ms</a:t>
            </a:r>
          </a:p>
        </p:txBody>
      </p:sp>
      <p:sp>
        <p:nvSpPr>
          <p:cNvPr id="10" name="Rectangle 9"/>
          <p:cNvSpPr/>
          <p:nvPr/>
        </p:nvSpPr>
        <p:spPr>
          <a:xfrm>
            <a:off x="7882127" y="2788920"/>
            <a:ext cx="3108960" cy="1078992"/>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82127" y="2788920"/>
            <a:ext cx="82296" cy="1078992"/>
          </a:xfrm>
          <a:prstGeom prst="rect">
            <a:avLst/>
          </a:prstGeom>
          <a:solidFill>
            <a:srgbClr val="C94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2926079"/>
            <a:ext cx="2788920" cy="256032"/>
          </a:xfrm>
          <a:prstGeom prst="rect">
            <a:avLst/>
          </a:prstGeom>
          <a:noFill/>
          <a:ln>
            <a:noFill/>
          </a:ln>
        </p:spPr>
        <p:txBody>
          <a:bodyPr wrap="square" lIns="73152" rIns="73152" tIns="54864" bIns="54864" anchor="t">
            <a:spAutoFit/>
          </a:bodyPr>
          <a:lstStyle/>
          <a:p>
            <a:pPr algn="l">
              <a:spcBef>
                <a:spcPts val="0"/>
              </a:spcBef>
              <a:spcAft>
                <a:spcPts val="0"/>
              </a:spcAft>
              <a:defRPr sz="1100" b="1">
                <a:solidFill>
                  <a:srgbClr val="777777"/>
                </a:solidFill>
                <a:latin typeface="Aptos"/>
              </a:defRPr>
            </a:pPr>
            <a:r>
              <a:t>TAU IQR</a:t>
            </a:r>
          </a:p>
        </p:txBody>
      </p:sp>
      <p:sp>
        <p:nvSpPr>
          <p:cNvPr id="13" name="TextBox 12"/>
          <p:cNvSpPr txBox="1"/>
          <p:nvPr/>
        </p:nvSpPr>
        <p:spPr>
          <a:xfrm>
            <a:off x="8092440" y="3218687"/>
            <a:ext cx="2788920" cy="475488"/>
          </a:xfrm>
          <a:prstGeom prst="rect">
            <a:avLst/>
          </a:prstGeom>
          <a:noFill/>
          <a:ln>
            <a:noFill/>
          </a:ln>
        </p:spPr>
        <p:txBody>
          <a:bodyPr wrap="square" lIns="73152" rIns="73152" tIns="54864" bIns="54864" anchor="t">
            <a:spAutoFit/>
          </a:bodyPr>
          <a:lstStyle/>
          <a:p>
            <a:pPr algn="l">
              <a:spcBef>
                <a:spcPts val="0"/>
              </a:spcBef>
              <a:spcAft>
                <a:spcPts val="0"/>
              </a:spcAft>
              <a:defRPr sz="2200" b="1">
                <a:solidFill>
                  <a:srgbClr val="191919"/>
                </a:solidFill>
                <a:latin typeface="Aptos"/>
              </a:defRPr>
            </a:pPr>
            <a:r>
              <a:t>14-23 ms</a:t>
            </a:r>
          </a:p>
        </p:txBody>
      </p:sp>
      <p:sp>
        <p:nvSpPr>
          <p:cNvPr id="14" name="TextBox 13"/>
          <p:cNvSpPr txBox="1"/>
          <p:nvPr/>
        </p:nvSpPr>
        <p:spPr>
          <a:xfrm>
            <a:off x="8001000" y="4251960"/>
            <a:ext cx="2852928" cy="320040"/>
          </a:xfrm>
          <a:prstGeom prst="rect">
            <a:avLst/>
          </a:prstGeom>
          <a:noFill/>
          <a:ln>
            <a:noFill/>
          </a:ln>
        </p:spPr>
        <p:txBody>
          <a:bodyPr wrap="square" lIns="73152" rIns="73152" tIns="54864" bIns="54864" anchor="t">
            <a:spAutoFit/>
          </a:bodyPr>
          <a:lstStyle/>
          <a:p>
            <a:pPr algn="ctr">
              <a:spcBef>
                <a:spcPts val="0"/>
              </a:spcBef>
              <a:spcAft>
                <a:spcPts val="0"/>
              </a:spcAft>
              <a:defRPr sz="1200" b="1">
                <a:solidFill>
                  <a:srgbClr val="8F160D"/>
                </a:solidFill>
                <a:latin typeface="Aptos"/>
              </a:defRPr>
            </a:pPr>
            <a:r>
              <a:t>DIMENSION COUNTS</a:t>
            </a:r>
          </a:p>
        </p:txBody>
      </p:sp>
      <p:sp>
        <p:nvSpPr>
          <p:cNvPr id="15" name="TextBox 14"/>
          <p:cNvSpPr txBox="1"/>
          <p:nvPr/>
        </p:nvSpPr>
        <p:spPr>
          <a:xfrm>
            <a:off x="8001000" y="4681728"/>
            <a:ext cx="2852928" cy="932688"/>
          </a:xfrm>
          <a:prstGeom prst="rect">
            <a:avLst/>
          </a:prstGeom>
          <a:noFill/>
          <a:ln>
            <a:noFill/>
          </a:ln>
        </p:spPr>
        <p:txBody>
          <a:bodyPr wrap="square" lIns="73152" rIns="73152" tIns="54864" bIns="54864" anchor="t">
            <a:spAutoFit/>
          </a:bodyPr>
          <a:lstStyle/>
          <a:p>
            <a:pPr algn="ctr">
              <a:spcBef>
                <a:spcPts val="0"/>
              </a:spcBef>
              <a:spcAft>
                <a:spcPts val="0"/>
              </a:spcAft>
              <a:defRPr sz="1800" b="1">
                <a:solidFill>
                  <a:srgbClr val="191919"/>
                </a:solidFill>
                <a:latin typeface="Aptos"/>
              </a:defRPr>
            </a:pPr>
            <a:r>
              <a:t>3D: 34 traces</a:t>
            </a:r>
          </a:p>
          <a:p>
            <a:pPr algn="ctr">
              <a:spcBef>
                <a:spcPts val="0"/>
              </a:spcBef>
              <a:spcAft>
                <a:spcPts val="0"/>
              </a:spcAft>
              <a:defRPr sz="1800" b="1">
                <a:solidFill>
                  <a:srgbClr val="191919"/>
                </a:solidFill>
                <a:latin typeface="Aptos"/>
              </a:defRPr>
            </a:pPr>
            <a:r>
              <a:t>5D: 103 traces</a:t>
            </a:r>
          </a:p>
          <a:p>
            <a:pPr algn="ctr">
              <a:spcBef>
                <a:spcPts val="0"/>
              </a:spcBef>
              <a:spcAft>
                <a:spcPts val="0"/>
              </a:spcAft>
              <a:defRPr sz="1800" b="1">
                <a:solidFill>
                  <a:srgbClr val="191919"/>
                </a:solidFill>
                <a:latin typeface="Aptos"/>
              </a:defRPr>
            </a:pPr>
            <a:r>
              <a:t>7D: 123 traces</a:t>
            </a:r>
          </a:p>
          <a:p>
            <a:pPr algn="ctr">
              <a:spcBef>
                <a:spcPts val="0"/>
              </a:spcBef>
              <a:spcAft>
                <a:spcPts val="0"/>
              </a:spcAft>
              <a:defRPr sz="1800" b="1">
                <a:solidFill>
                  <a:srgbClr val="191919"/>
                </a:solidFill>
                <a:latin typeface="Aptos"/>
              </a:defRPr>
            </a:pPr>
            <a:r>
              <a:t>9D: 81 traces</a:t>
            </a:r>
          </a:p>
        </p:txBody>
      </p:sp>
      <p:sp>
        <p:nvSpPr>
          <p:cNvPr id="16" name="TextBox 15"/>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Embedding detail</a:t>
            </a:r>
          </a:p>
        </p:txBody>
      </p:sp>
      <p:sp>
        <p:nvSpPr>
          <p:cNvPr id="17" name="TextBox 16"/>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Persistent homology tests the torus hypothesis rather than forcing it</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hreshold_sweep.png"/>
          <p:cNvPicPr>
            <a:picLocks noChangeAspect="1"/>
          </p:cNvPicPr>
          <p:nvPr/>
        </p:nvPicPr>
        <p:blipFill>
          <a:blip r:embed="rId2"/>
          <a:stretch>
            <a:fillRect/>
          </a:stretch>
        </p:blipFill>
        <p:spPr>
          <a:xfrm>
            <a:off x="594360" y="2203585"/>
            <a:ext cx="5230368" cy="3017756"/>
          </a:xfrm>
          <a:prstGeom prst="rect">
            <a:avLst/>
          </a:prstGeom>
        </p:spPr>
      </p:pic>
      <p:pic>
        <p:nvPicPr>
          <p:cNvPr id="6" name="Picture 5" descr="betti_signature_counts.png"/>
          <p:cNvPicPr>
            <a:picLocks noChangeAspect="1"/>
          </p:cNvPicPr>
          <p:nvPr/>
        </p:nvPicPr>
        <p:blipFill>
          <a:blip r:embed="rId3"/>
          <a:stretch>
            <a:fillRect/>
          </a:stretch>
        </p:blipFill>
        <p:spPr>
          <a:xfrm>
            <a:off x="6217920" y="1983814"/>
            <a:ext cx="5230368" cy="3457299"/>
          </a:xfrm>
          <a:prstGeom prst="rect">
            <a:avLst/>
          </a:prstGeom>
        </p:spPr>
      </p:pic>
      <p:sp>
        <p:nvSpPr>
          <p:cNvPr id="7" name="TextBox 6"/>
          <p:cNvSpPr txBox="1"/>
          <p:nvPr/>
        </p:nvSpPr>
        <p:spPr>
          <a:xfrm>
            <a:off x="868680" y="6144768"/>
            <a:ext cx="10497312" cy="256032"/>
          </a:xfrm>
          <a:prstGeom prst="rect">
            <a:avLst/>
          </a:prstGeom>
          <a:noFill/>
          <a:ln>
            <a:noFill/>
          </a:ln>
        </p:spPr>
        <p:txBody>
          <a:bodyPr wrap="square" lIns="73152" rIns="73152" tIns="54864" bIns="54864" anchor="t">
            <a:spAutoFit/>
          </a:bodyPr>
          <a:lstStyle/>
          <a:p>
            <a:pPr algn="ctr">
              <a:spcBef>
                <a:spcPts val="0"/>
              </a:spcBef>
              <a:spcAft>
                <a:spcPts val="0"/>
              </a:spcAft>
              <a:defRPr sz="1500" b="1">
                <a:solidFill>
                  <a:srgbClr val="8F160D"/>
                </a:solidFill>
                <a:latin typeface="Aptos"/>
              </a:defRPr>
            </a:pPr>
            <a:r>
              <a:t>Observed dominant EEG signature in this probe: (1, 1, 0), not the hypothesized (1, 2, 1).</a:t>
            </a:r>
          </a:p>
        </p:txBody>
      </p:sp>
      <p:sp>
        <p:nvSpPr>
          <p:cNvPr id="8" name="TextBox 7"/>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Topology</a:t>
            </a:r>
          </a:p>
        </p:txBody>
      </p:sp>
      <p:sp>
        <p:nvSpPr>
          <p:cNvPr id="9" name="TextBox 8"/>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3840480" cy="219456"/>
          </a:xfrm>
          <a:prstGeom prst="rect">
            <a:avLst/>
          </a:prstGeom>
          <a:noFill/>
          <a:ln>
            <a:noFill/>
          </a:ln>
        </p:spPr>
        <p:txBody>
          <a:bodyPr wrap="square" lIns="73152" rIns="73152" tIns="54864" bIns="54864" anchor="t">
            <a:spAutoFit/>
          </a:bodyPr>
          <a:lstStyle/>
          <a:p>
            <a:pPr algn="l">
              <a:spcBef>
                <a:spcPts val="0"/>
              </a:spcBef>
              <a:spcAft>
                <a:spcPts val="0"/>
              </a:spcAft>
              <a:defRPr sz="1000" b="1">
                <a:solidFill>
                  <a:srgbClr val="8F160D"/>
                </a:solidFill>
                <a:latin typeface="Aptos"/>
              </a:defRPr>
            </a:pPr>
            <a:r>
              <a:t>BACKUP</a:t>
            </a:r>
          </a:p>
        </p:txBody>
      </p:sp>
      <p:sp>
        <p:nvSpPr>
          <p:cNvPr id="3" name="TextBox 2"/>
          <p:cNvSpPr txBox="1"/>
          <p:nvPr/>
        </p:nvSpPr>
        <p:spPr>
          <a:xfrm>
            <a:off x="502920" y="420624"/>
            <a:ext cx="11109960" cy="475488"/>
          </a:xfrm>
          <a:prstGeom prst="rect">
            <a:avLst/>
          </a:prstGeom>
          <a:noFill/>
          <a:ln>
            <a:noFill/>
          </a:ln>
        </p:spPr>
        <p:txBody>
          <a:bodyPr wrap="square" lIns="73152" rIns="73152" tIns="54864" bIns="54864" anchor="t">
            <a:spAutoFit/>
          </a:bodyPr>
          <a:lstStyle/>
          <a:p>
            <a:pPr algn="l">
              <a:spcBef>
                <a:spcPts val="0"/>
              </a:spcBef>
              <a:spcAft>
                <a:spcPts val="0"/>
              </a:spcAft>
              <a:defRPr sz="2700" b="1">
                <a:solidFill>
                  <a:srgbClr val="191919"/>
                </a:solidFill>
                <a:latin typeface="Aptos"/>
              </a:defRPr>
            </a:pPr>
            <a:r>
              <a:t>The rebuttal converts reviewer concerns into concrete evidence</a:t>
            </a:r>
          </a:p>
        </p:txBody>
      </p:sp>
      <p:sp>
        <p:nvSpPr>
          <p:cNvPr id="4" name="Rectangle 3"/>
          <p:cNvSpPr/>
          <p:nvPr/>
        </p:nvSpPr>
        <p:spPr>
          <a:xfrm>
            <a:off x="502920" y="978408"/>
            <a:ext cx="11173968" cy="9144"/>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34440"/>
            <a:ext cx="11155680" cy="530352"/>
          </a:xfrm>
          <a:prstGeom prst="rect">
            <a:avLst/>
          </a:prstGeom>
          <a:solidFill>
            <a:srgbClr val="8F1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53312"/>
            <a:ext cx="3063240" cy="256032"/>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FFFFFF"/>
                </a:solidFill>
                <a:latin typeface="Aptos"/>
              </a:defRPr>
            </a:pPr>
            <a:r>
              <a:t>REVIEW QUESTION</a:t>
            </a:r>
          </a:p>
        </p:txBody>
      </p:sp>
      <p:sp>
        <p:nvSpPr>
          <p:cNvPr id="7" name="TextBox 6"/>
          <p:cNvSpPr txBox="1"/>
          <p:nvPr/>
        </p:nvSpPr>
        <p:spPr>
          <a:xfrm>
            <a:off x="4005072" y="1353312"/>
            <a:ext cx="5852160" cy="256032"/>
          </a:xfrm>
          <a:prstGeom prst="rect">
            <a:avLst/>
          </a:prstGeom>
          <a:noFill/>
          <a:ln>
            <a:noFill/>
          </a:ln>
        </p:spPr>
        <p:txBody>
          <a:bodyPr wrap="square" lIns="73152" rIns="73152" tIns="54864" bIns="54864" anchor="t">
            <a:spAutoFit/>
          </a:bodyPr>
          <a:lstStyle/>
          <a:p>
            <a:pPr algn="l">
              <a:spcBef>
                <a:spcPts val="0"/>
              </a:spcBef>
              <a:spcAft>
                <a:spcPts val="0"/>
              </a:spcAft>
              <a:defRPr sz="1200" b="1">
                <a:solidFill>
                  <a:srgbClr val="FFFFFF"/>
                </a:solidFill>
                <a:latin typeface="Aptos"/>
              </a:defRPr>
            </a:pPr>
            <a:r>
              <a:t>NEW EVIDENCE</a:t>
            </a:r>
          </a:p>
        </p:txBody>
      </p:sp>
      <p:sp>
        <p:nvSpPr>
          <p:cNvPr id="8" name="TextBox 7"/>
          <p:cNvSpPr txBox="1"/>
          <p:nvPr/>
        </p:nvSpPr>
        <p:spPr>
          <a:xfrm>
            <a:off x="10104120" y="1353312"/>
            <a:ext cx="1280160" cy="256032"/>
          </a:xfrm>
          <a:prstGeom prst="rect">
            <a:avLst/>
          </a:prstGeom>
          <a:noFill/>
          <a:ln>
            <a:noFill/>
          </a:ln>
        </p:spPr>
        <p:txBody>
          <a:bodyPr wrap="square" lIns="73152" rIns="73152" tIns="54864" bIns="54864" anchor="t">
            <a:spAutoFit/>
          </a:bodyPr>
          <a:lstStyle/>
          <a:p>
            <a:pPr algn="ctr">
              <a:spcBef>
                <a:spcPts val="0"/>
              </a:spcBef>
              <a:spcAft>
                <a:spcPts val="0"/>
              </a:spcAft>
              <a:defRPr sz="1200" b="1">
                <a:solidFill>
                  <a:srgbClr val="FFFFFF"/>
                </a:solidFill>
                <a:latin typeface="Aptos"/>
              </a:defRPr>
            </a:pPr>
            <a:r>
              <a:t>STATUS</a:t>
            </a:r>
          </a:p>
        </p:txBody>
      </p:sp>
      <p:sp>
        <p:nvSpPr>
          <p:cNvPr id="9" name="Rectangle 8"/>
          <p:cNvSpPr/>
          <p:nvPr/>
        </p:nvSpPr>
        <p:spPr>
          <a:xfrm>
            <a:off x="502920" y="1773936"/>
            <a:ext cx="11155680" cy="768096"/>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11095"/>
            <a:ext cx="3017520" cy="502920"/>
          </a:xfrm>
          <a:prstGeom prst="rect">
            <a:avLst/>
          </a:prstGeom>
          <a:noFill/>
          <a:ln>
            <a:noFill/>
          </a:ln>
        </p:spPr>
        <p:txBody>
          <a:bodyPr wrap="square" lIns="73152" rIns="73152" tIns="54864" bIns="54864" anchor="t">
            <a:spAutoFit/>
          </a:bodyPr>
          <a:lstStyle/>
          <a:p>
            <a:pPr algn="l">
              <a:spcBef>
                <a:spcPts val="0"/>
              </a:spcBef>
              <a:spcAft>
                <a:spcPts val="0"/>
              </a:spcAft>
              <a:defRPr sz="1500" b="1">
                <a:solidFill>
                  <a:srgbClr val="191919"/>
                </a:solidFill>
                <a:latin typeface="Aptos"/>
              </a:defRPr>
            </a:pPr>
            <a:r>
              <a:t>Specified baselines and error bars</a:t>
            </a:r>
          </a:p>
        </p:txBody>
      </p:sp>
      <p:sp>
        <p:nvSpPr>
          <p:cNvPr id="11" name="TextBox 10"/>
          <p:cNvSpPr txBox="1"/>
          <p:nvPr/>
        </p:nvSpPr>
        <p:spPr>
          <a:xfrm>
            <a:off x="4005072" y="1911095"/>
            <a:ext cx="5806440" cy="502920"/>
          </a:xfrm>
          <a:prstGeom prst="rect">
            <a:avLst/>
          </a:prstGeom>
          <a:noFill/>
          <a:ln>
            <a:noFill/>
          </a:ln>
        </p:spPr>
        <p:txBody>
          <a:bodyPr wrap="square" lIns="73152" rIns="73152" tIns="54864" bIns="54864" anchor="t">
            <a:spAutoFit/>
          </a:bodyPr>
          <a:lstStyle/>
          <a:p>
            <a:pPr algn="l">
              <a:spcBef>
                <a:spcPts val="0"/>
              </a:spcBef>
              <a:spcAft>
                <a:spcPts val="0"/>
              </a:spcAft>
              <a:defRPr sz="1500" b="0">
                <a:solidFill>
                  <a:srgbClr val="191919"/>
                </a:solidFill>
                <a:latin typeface="Aptos"/>
              </a:defRPr>
            </a:pPr>
            <a:r>
              <a:t>EEG and macaque relevant-band, Average PSD, and all-band comparisons</a:t>
            </a:r>
          </a:p>
        </p:txBody>
      </p:sp>
      <p:sp>
        <p:nvSpPr>
          <p:cNvPr id="12" name="TextBox 11"/>
          <p:cNvSpPr txBox="1"/>
          <p:nvPr/>
        </p:nvSpPr>
        <p:spPr>
          <a:xfrm>
            <a:off x="10104120" y="1947672"/>
            <a:ext cx="1280160" cy="384048"/>
          </a:xfrm>
          <a:prstGeom prst="rect">
            <a:avLst/>
          </a:prstGeom>
          <a:noFill/>
          <a:ln>
            <a:noFill/>
          </a:ln>
        </p:spPr>
        <p:txBody>
          <a:bodyPr wrap="square" lIns="73152" rIns="73152" tIns="54864" bIns="54864" anchor="t">
            <a:spAutoFit/>
          </a:bodyPr>
          <a:lstStyle/>
          <a:p>
            <a:pPr algn="ctr">
              <a:spcBef>
                <a:spcPts val="0"/>
              </a:spcBef>
              <a:spcAft>
                <a:spcPts val="0"/>
              </a:spcAft>
              <a:defRPr sz="1400" b="1">
                <a:solidFill>
                  <a:srgbClr val="287D5A"/>
                </a:solidFill>
                <a:latin typeface="Aptos"/>
              </a:defRPr>
            </a:pPr>
            <a:r>
              <a:t>Addressed</a:t>
            </a:r>
          </a:p>
        </p:txBody>
      </p:sp>
      <p:sp>
        <p:nvSpPr>
          <p:cNvPr id="13" name="Rectangle 12"/>
          <p:cNvSpPr/>
          <p:nvPr/>
        </p:nvSpPr>
        <p:spPr>
          <a:xfrm>
            <a:off x="502920" y="2615184"/>
            <a:ext cx="11155680" cy="768096"/>
          </a:xfrm>
          <a:prstGeom prst="rect">
            <a:avLst/>
          </a:prstGeom>
          <a:solidFill>
            <a:srgbClr val="F5F3F2"/>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52344"/>
            <a:ext cx="3017520" cy="502920"/>
          </a:xfrm>
          <a:prstGeom prst="rect">
            <a:avLst/>
          </a:prstGeom>
          <a:noFill/>
          <a:ln>
            <a:noFill/>
          </a:ln>
        </p:spPr>
        <p:txBody>
          <a:bodyPr wrap="square" lIns="73152" rIns="73152" tIns="54864" bIns="54864" anchor="t">
            <a:spAutoFit/>
          </a:bodyPr>
          <a:lstStyle/>
          <a:p>
            <a:pPr algn="l">
              <a:spcBef>
                <a:spcPts val="0"/>
              </a:spcBef>
              <a:spcAft>
                <a:spcPts val="0"/>
              </a:spcAft>
              <a:defRPr sz="1500" b="1">
                <a:solidFill>
                  <a:srgbClr val="191919"/>
                </a:solidFill>
                <a:latin typeface="Aptos"/>
              </a:defRPr>
            </a:pPr>
            <a:r>
              <a:t>Stability across recordings</a:t>
            </a:r>
          </a:p>
        </p:txBody>
      </p:sp>
      <p:sp>
        <p:nvSpPr>
          <p:cNvPr id="15" name="TextBox 14"/>
          <p:cNvSpPr txBox="1"/>
          <p:nvPr/>
        </p:nvSpPr>
        <p:spPr>
          <a:xfrm>
            <a:off x="4005072" y="2752344"/>
            <a:ext cx="5806440" cy="502920"/>
          </a:xfrm>
          <a:prstGeom prst="rect">
            <a:avLst/>
          </a:prstGeom>
          <a:noFill/>
          <a:ln>
            <a:noFill/>
          </a:ln>
        </p:spPr>
        <p:txBody>
          <a:bodyPr wrap="square" lIns="73152" rIns="73152" tIns="54864" bIns="54864" anchor="t">
            <a:spAutoFit/>
          </a:bodyPr>
          <a:lstStyle/>
          <a:p>
            <a:pPr algn="l">
              <a:spcBef>
                <a:spcPts val="0"/>
              </a:spcBef>
              <a:spcAft>
                <a:spcPts val="0"/>
              </a:spcAft>
              <a:defRPr sz="1500" b="0">
                <a:solidFill>
                  <a:srgbClr val="191919"/>
                </a:solidFill>
                <a:latin typeface="Aptos"/>
              </a:defRPr>
            </a:pPr>
            <a:r>
              <a:t>21 EEG hours; 237 macaque LFPs; separate M/T summaries</a:t>
            </a:r>
          </a:p>
        </p:txBody>
      </p:sp>
      <p:sp>
        <p:nvSpPr>
          <p:cNvPr id="16" name="TextBox 15"/>
          <p:cNvSpPr txBox="1"/>
          <p:nvPr/>
        </p:nvSpPr>
        <p:spPr>
          <a:xfrm>
            <a:off x="10104120" y="2788920"/>
            <a:ext cx="1280160" cy="384048"/>
          </a:xfrm>
          <a:prstGeom prst="rect">
            <a:avLst/>
          </a:prstGeom>
          <a:noFill/>
          <a:ln>
            <a:noFill/>
          </a:ln>
        </p:spPr>
        <p:txBody>
          <a:bodyPr wrap="square" lIns="73152" rIns="73152" tIns="54864" bIns="54864" anchor="t">
            <a:spAutoFit/>
          </a:bodyPr>
          <a:lstStyle/>
          <a:p>
            <a:pPr algn="ctr">
              <a:spcBef>
                <a:spcPts val="0"/>
              </a:spcBef>
              <a:spcAft>
                <a:spcPts val="0"/>
              </a:spcAft>
              <a:defRPr sz="1400" b="1">
                <a:solidFill>
                  <a:srgbClr val="287D5A"/>
                </a:solidFill>
                <a:latin typeface="Aptos"/>
              </a:defRPr>
            </a:pPr>
            <a:r>
              <a:t>Addressed</a:t>
            </a:r>
          </a:p>
        </p:txBody>
      </p:sp>
      <p:sp>
        <p:nvSpPr>
          <p:cNvPr id="17" name="Rectangle 16"/>
          <p:cNvSpPr/>
          <p:nvPr/>
        </p:nvSpPr>
        <p:spPr>
          <a:xfrm>
            <a:off x="502920" y="3456432"/>
            <a:ext cx="11155680" cy="768096"/>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593592"/>
            <a:ext cx="3017520" cy="502920"/>
          </a:xfrm>
          <a:prstGeom prst="rect">
            <a:avLst/>
          </a:prstGeom>
          <a:noFill/>
          <a:ln>
            <a:noFill/>
          </a:ln>
        </p:spPr>
        <p:txBody>
          <a:bodyPr wrap="square" lIns="73152" rIns="73152" tIns="54864" bIns="54864" anchor="t">
            <a:spAutoFit/>
          </a:bodyPr>
          <a:lstStyle/>
          <a:p>
            <a:pPr algn="l">
              <a:spcBef>
                <a:spcPts val="0"/>
              </a:spcBef>
              <a:spcAft>
                <a:spcPts val="0"/>
              </a:spcAft>
              <a:defRPr sz="1500" b="1">
                <a:solidFill>
                  <a:srgbClr val="191919"/>
                </a:solidFill>
                <a:latin typeface="Aptos"/>
              </a:defRPr>
            </a:pPr>
            <a:r>
              <a:t>Repeated motor behavior</a:t>
            </a:r>
          </a:p>
        </p:txBody>
      </p:sp>
      <p:sp>
        <p:nvSpPr>
          <p:cNvPr id="19" name="TextBox 18"/>
          <p:cNvSpPr txBox="1"/>
          <p:nvPr/>
        </p:nvSpPr>
        <p:spPr>
          <a:xfrm>
            <a:off x="4005072" y="3593592"/>
            <a:ext cx="5806440" cy="502920"/>
          </a:xfrm>
          <a:prstGeom prst="rect">
            <a:avLst/>
          </a:prstGeom>
          <a:noFill/>
          <a:ln>
            <a:noFill/>
          </a:ln>
        </p:spPr>
        <p:txBody>
          <a:bodyPr wrap="square" lIns="73152" rIns="73152" tIns="54864" bIns="54864" anchor="t">
            <a:spAutoFit/>
          </a:bodyPr>
          <a:lstStyle/>
          <a:p>
            <a:pPr algn="l">
              <a:spcBef>
                <a:spcPts val="0"/>
              </a:spcBef>
              <a:spcAft>
                <a:spcPts val="0"/>
              </a:spcAft>
              <a:defRPr sz="1500" b="0">
                <a:solidFill>
                  <a:srgbClr val="191919"/>
                </a:solidFill>
                <a:latin typeface="Aptos"/>
              </a:defRPr>
            </a:pPr>
            <a:r>
              <a:t>Six-way reach-direction decoding from movement-aligned LFP</a:t>
            </a:r>
          </a:p>
        </p:txBody>
      </p:sp>
      <p:sp>
        <p:nvSpPr>
          <p:cNvPr id="20" name="TextBox 19"/>
          <p:cNvSpPr txBox="1"/>
          <p:nvPr/>
        </p:nvSpPr>
        <p:spPr>
          <a:xfrm>
            <a:off x="10104120" y="3630168"/>
            <a:ext cx="1280160" cy="384048"/>
          </a:xfrm>
          <a:prstGeom prst="rect">
            <a:avLst/>
          </a:prstGeom>
          <a:noFill/>
          <a:ln>
            <a:noFill/>
          </a:ln>
        </p:spPr>
        <p:txBody>
          <a:bodyPr wrap="square" lIns="73152" rIns="73152" tIns="54864" bIns="54864" anchor="t">
            <a:spAutoFit/>
          </a:bodyPr>
          <a:lstStyle/>
          <a:p>
            <a:pPr algn="ctr">
              <a:spcBef>
                <a:spcPts val="0"/>
              </a:spcBef>
              <a:spcAft>
                <a:spcPts val="0"/>
              </a:spcAft>
              <a:defRPr sz="1400" b="1">
                <a:solidFill>
                  <a:srgbClr val="287D5A"/>
                </a:solidFill>
                <a:latin typeface="Aptos"/>
              </a:defRPr>
            </a:pPr>
            <a:r>
              <a:t>Addressed</a:t>
            </a:r>
          </a:p>
        </p:txBody>
      </p:sp>
      <p:sp>
        <p:nvSpPr>
          <p:cNvPr id="21" name="Rectangle 20"/>
          <p:cNvSpPr/>
          <p:nvPr/>
        </p:nvSpPr>
        <p:spPr>
          <a:xfrm>
            <a:off x="502920" y="4297680"/>
            <a:ext cx="11155680" cy="768096"/>
          </a:xfrm>
          <a:prstGeom prst="rect">
            <a:avLst/>
          </a:prstGeom>
          <a:solidFill>
            <a:srgbClr val="F5F3F2"/>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434840"/>
            <a:ext cx="3017520" cy="502920"/>
          </a:xfrm>
          <a:prstGeom prst="rect">
            <a:avLst/>
          </a:prstGeom>
          <a:noFill/>
          <a:ln>
            <a:noFill/>
          </a:ln>
        </p:spPr>
        <p:txBody>
          <a:bodyPr wrap="square" lIns="73152" rIns="73152" tIns="54864" bIns="54864" anchor="t">
            <a:spAutoFit/>
          </a:bodyPr>
          <a:lstStyle/>
          <a:p>
            <a:pPr algn="l">
              <a:spcBef>
                <a:spcPts val="0"/>
              </a:spcBef>
              <a:spcAft>
                <a:spcPts val="0"/>
              </a:spcAft>
              <a:defRPr sz="1500" b="1">
                <a:solidFill>
                  <a:srgbClr val="191919"/>
                </a:solidFill>
                <a:latin typeface="Aptos"/>
              </a:defRPr>
            </a:pPr>
            <a:r>
              <a:t>How much data / lag choice</a:t>
            </a:r>
          </a:p>
        </p:txBody>
      </p:sp>
      <p:sp>
        <p:nvSpPr>
          <p:cNvPr id="23" name="TextBox 22"/>
          <p:cNvSpPr txBox="1"/>
          <p:nvPr/>
        </p:nvSpPr>
        <p:spPr>
          <a:xfrm>
            <a:off x="4005072" y="4434840"/>
            <a:ext cx="5806440" cy="502920"/>
          </a:xfrm>
          <a:prstGeom prst="rect">
            <a:avLst/>
          </a:prstGeom>
          <a:noFill/>
          <a:ln>
            <a:noFill/>
          </a:ln>
        </p:spPr>
        <p:txBody>
          <a:bodyPr wrap="square" lIns="73152" rIns="73152" tIns="54864" bIns="54864" anchor="t">
            <a:spAutoFit/>
          </a:bodyPr>
          <a:lstStyle/>
          <a:p>
            <a:pPr algn="l">
              <a:spcBef>
                <a:spcPts val="0"/>
              </a:spcBef>
              <a:spcAft>
                <a:spcPts val="0"/>
              </a:spcAft>
              <a:defRPr sz="1500" b="0">
                <a:solidFill>
                  <a:srgbClr val="191919"/>
                </a:solidFill>
                <a:latin typeface="Aptos"/>
              </a:defRPr>
            </a:pPr>
            <a:r>
              <a:t>Per-trace AMI tau; PSD-informed dimension; parameter distributions</a:t>
            </a:r>
          </a:p>
        </p:txBody>
      </p:sp>
      <p:sp>
        <p:nvSpPr>
          <p:cNvPr id="24" name="TextBox 23"/>
          <p:cNvSpPr txBox="1"/>
          <p:nvPr/>
        </p:nvSpPr>
        <p:spPr>
          <a:xfrm>
            <a:off x="10104120" y="4471416"/>
            <a:ext cx="1280160" cy="384048"/>
          </a:xfrm>
          <a:prstGeom prst="rect">
            <a:avLst/>
          </a:prstGeom>
          <a:noFill/>
          <a:ln>
            <a:noFill/>
          </a:ln>
        </p:spPr>
        <p:txBody>
          <a:bodyPr wrap="square" lIns="73152" rIns="73152" tIns="54864" bIns="54864" anchor="t">
            <a:spAutoFit/>
          </a:bodyPr>
          <a:lstStyle/>
          <a:p>
            <a:pPr algn="ctr">
              <a:spcBef>
                <a:spcPts val="0"/>
              </a:spcBef>
              <a:spcAft>
                <a:spcPts val="0"/>
              </a:spcAft>
              <a:defRPr sz="1400" b="1">
                <a:solidFill>
                  <a:srgbClr val="287D5A"/>
                </a:solidFill>
                <a:latin typeface="Aptos"/>
              </a:defRPr>
            </a:pPr>
            <a:r>
              <a:t>Quantified</a:t>
            </a:r>
          </a:p>
        </p:txBody>
      </p:sp>
      <p:sp>
        <p:nvSpPr>
          <p:cNvPr id="25" name="Rectangle 24"/>
          <p:cNvSpPr/>
          <p:nvPr/>
        </p:nvSpPr>
        <p:spPr>
          <a:xfrm>
            <a:off x="502920" y="5138928"/>
            <a:ext cx="11155680" cy="768096"/>
          </a:xfrm>
          <a:prstGeom prst="rect">
            <a:avLst/>
          </a:prstGeom>
          <a:solidFill>
            <a:srgbClr val="FFFFFF"/>
          </a:solidFill>
          <a:ln w="12700">
            <a:solidFill>
              <a:srgbClr val="DDD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276088"/>
            <a:ext cx="3017520" cy="502920"/>
          </a:xfrm>
          <a:prstGeom prst="rect">
            <a:avLst/>
          </a:prstGeom>
          <a:noFill/>
          <a:ln>
            <a:noFill/>
          </a:ln>
        </p:spPr>
        <p:txBody>
          <a:bodyPr wrap="square" lIns="73152" rIns="73152" tIns="54864" bIns="54864" anchor="t">
            <a:spAutoFit/>
          </a:bodyPr>
          <a:lstStyle/>
          <a:p>
            <a:pPr algn="l">
              <a:spcBef>
                <a:spcPts val="0"/>
              </a:spcBef>
              <a:spcAft>
                <a:spcPts val="0"/>
              </a:spcAft>
              <a:defRPr sz="1500" b="1">
                <a:solidFill>
                  <a:srgbClr val="191919"/>
                </a:solidFill>
                <a:latin typeface="Aptos"/>
              </a:defRPr>
            </a:pPr>
            <a:r>
              <a:t>Order versus downstream utility</a:t>
            </a:r>
          </a:p>
        </p:txBody>
      </p:sp>
      <p:sp>
        <p:nvSpPr>
          <p:cNvPr id="27" name="TextBox 26"/>
          <p:cNvSpPr txBox="1"/>
          <p:nvPr/>
        </p:nvSpPr>
        <p:spPr>
          <a:xfrm>
            <a:off x="4005072" y="5276088"/>
            <a:ext cx="5806440" cy="502920"/>
          </a:xfrm>
          <a:prstGeom prst="rect">
            <a:avLst/>
          </a:prstGeom>
          <a:noFill/>
          <a:ln>
            <a:noFill/>
          </a:ln>
        </p:spPr>
        <p:txBody>
          <a:bodyPr wrap="square" lIns="73152" rIns="73152" tIns="54864" bIns="54864" anchor="t">
            <a:spAutoFit/>
          </a:bodyPr>
          <a:lstStyle/>
          <a:p>
            <a:pPr algn="l">
              <a:spcBef>
                <a:spcPts val="0"/>
              </a:spcBef>
              <a:spcAft>
                <a:spcPts val="0"/>
              </a:spcAft>
              <a:defRPr sz="1500" b="0">
                <a:solidFill>
                  <a:srgbClr val="191919"/>
                </a:solidFill>
                <a:latin typeface="Aptos"/>
              </a:defRPr>
            </a:pPr>
            <a:r>
              <a:t>15D-to-11D no-radius feature ablation</a:t>
            </a:r>
          </a:p>
        </p:txBody>
      </p:sp>
      <p:sp>
        <p:nvSpPr>
          <p:cNvPr id="28" name="TextBox 27"/>
          <p:cNvSpPr txBox="1"/>
          <p:nvPr/>
        </p:nvSpPr>
        <p:spPr>
          <a:xfrm>
            <a:off x="10104120" y="5312664"/>
            <a:ext cx="1280160" cy="384048"/>
          </a:xfrm>
          <a:prstGeom prst="rect">
            <a:avLst/>
          </a:prstGeom>
          <a:noFill/>
          <a:ln>
            <a:noFill/>
          </a:ln>
        </p:spPr>
        <p:txBody>
          <a:bodyPr wrap="square" lIns="73152" rIns="73152" tIns="54864" bIns="54864" anchor="t">
            <a:spAutoFit/>
          </a:bodyPr>
          <a:lstStyle/>
          <a:p>
            <a:pPr algn="ctr">
              <a:spcBef>
                <a:spcPts val="0"/>
              </a:spcBef>
              <a:spcAft>
                <a:spcPts val="0"/>
              </a:spcAft>
              <a:defRPr sz="1400" b="1">
                <a:solidFill>
                  <a:srgbClr val="C94C28"/>
                </a:solidFill>
                <a:latin typeface="Aptos"/>
              </a:defRPr>
            </a:pPr>
            <a:r>
              <a:t>Partial</a:t>
            </a:r>
          </a:p>
        </p:txBody>
      </p:sp>
      <p:sp>
        <p:nvSpPr>
          <p:cNvPr id="29" name="TextBox 28"/>
          <p:cNvSpPr txBox="1"/>
          <p:nvPr/>
        </p:nvSpPr>
        <p:spPr>
          <a:xfrm>
            <a:off x="822960" y="6126480"/>
            <a:ext cx="10561320" cy="256032"/>
          </a:xfrm>
          <a:prstGeom prst="rect">
            <a:avLst/>
          </a:prstGeom>
          <a:noFill/>
          <a:ln>
            <a:noFill/>
          </a:ln>
        </p:spPr>
        <p:txBody>
          <a:bodyPr wrap="square" lIns="73152" rIns="73152" tIns="54864" bIns="54864" anchor="t">
            <a:spAutoFit/>
          </a:bodyPr>
          <a:lstStyle/>
          <a:p>
            <a:pPr algn="ctr">
              <a:spcBef>
                <a:spcPts val="0"/>
              </a:spcBef>
              <a:spcAft>
                <a:spcPts val="0"/>
              </a:spcAft>
              <a:defRPr sz="1600" b="1">
                <a:solidFill>
                  <a:srgbClr val="8F160D"/>
                </a:solidFill>
                <a:latin typeface="Aptos"/>
              </a:defRPr>
            </a:pPr>
            <a:r>
              <a:t>The remaining gaps are explicit, which strengthens rather than weakens the revised claim.</a:t>
            </a:r>
          </a:p>
        </p:txBody>
      </p:sp>
      <p:sp>
        <p:nvSpPr>
          <p:cNvPr id="30" name="TextBox 29"/>
          <p:cNvSpPr txBox="1"/>
          <p:nvPr/>
        </p:nvSpPr>
        <p:spPr>
          <a:xfrm>
            <a:off x="530352" y="6492240"/>
            <a:ext cx="10881360" cy="201168"/>
          </a:xfrm>
          <a:prstGeom prst="rect">
            <a:avLst/>
          </a:prstGeom>
          <a:noFill/>
        </p:spPr>
        <p:txBody>
          <a:bodyPr wrap="none">
            <a:spAutoFit/>
          </a:bodyPr>
          <a:lstStyle/>
          <a:p>
            <a:pPr>
              <a:defRPr sz="850">
                <a:solidFill>
                  <a:srgbClr val="777777"/>
                </a:solidFill>
                <a:latin typeface="Aptos"/>
              </a:defRPr>
            </a:pPr>
            <a:r>
              <a:t>NeuralFieldManifold  |  Reviewer matrix</a:t>
            </a:r>
          </a:p>
        </p:txBody>
      </p:sp>
      <p:sp>
        <p:nvSpPr>
          <p:cNvPr id="31" name="TextBox 30"/>
          <p:cNvSpPr txBox="1"/>
          <p:nvPr/>
        </p:nvSpPr>
        <p:spPr>
          <a:xfrm>
            <a:off x="11292840" y="6473952"/>
            <a:ext cx="365760" cy="201168"/>
          </a:xfrm>
          <a:prstGeom prst="rect">
            <a:avLst/>
          </a:prstGeom>
          <a:noFill/>
        </p:spPr>
        <p:txBody>
          <a:bodyPr wrap="none">
            <a:spAutoFit/>
          </a:bodyPr>
          <a:lstStyle/>
          <a:p>
            <a:pPr algn="r">
              <a:defRPr sz="850">
                <a:solidFill>
                  <a:srgbClr val="777777"/>
                </a:solidFill>
                <a:latin typeface="Aptos"/>
              </a:defRPr>
            </a:pPr>
            <a: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